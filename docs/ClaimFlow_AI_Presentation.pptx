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Calls</c:v>
                </c:pt>
              </c:strCache>
            </c:strRef>
          </c:tx>
          <c:spPr>
            <a:solidFill>
              <a:srgbClr val="1D5C73"/>
            </a:solidFill>
            <a:effectLst/>
          </c:spPr>
          <c:invertIfNegative val="0"/>
          <c:dLbls>
            <c:numFmt formatCode="#,##0" sourceLinked="0"/>
            <c:txPr>
              <a:bodyPr/>
              <a:lstStyle/>
              <a:p>
                <a:pPr>
                  <a:defRPr b="0" i="0" strike="noStrike" sz="1000" u="none">
                    <a:solidFill>
                      <a:srgbClr val="17212B"/>
                    </a:solidFill>
                    <a:latin typeface="Arial"/>
                  </a:defRPr>
                </a:pPr>
              </a:p>
            </c:txPr>
            <c:showLegendKey val="0"/>
            <c:showVal val="1"/>
            <c:showCatName val="0"/>
            <c:showSerName val="0"/>
            <c:showPercent val="0"/>
            <c:showBubbleSize val="0"/>
            <c:showLeaderLines val="0"/>
          </c:dLbls>
          <c:cat>
            <c:multiLvlStrRef>
              <c:f>Sheet1!$A$2:$A$8</c:f>
              <c:multiLvlStrCache>
                <c:ptCount val="7"/>
                <c:lvl>
                  <c:pt idx="0">
                    <c:v>Compliance</c:v>
                  </c:pt>
                  <c:pt idx="1">
                    <c:v>Assessment</c:v>
                  </c:pt>
                  <c:pt idx="2">
                    <c:v>Risk</c:v>
                  </c:pt>
                  <c:pt idx="3">
                    <c:v>Evidence</c:v>
                  </c:pt>
                  <c:pt idx="4">
                    <c:v>Damage</c:v>
                  </c:pt>
                  <c:pt idx="5">
                    <c:v>Policy</c:v>
                  </c:pt>
                  <c:pt idx="6">
                    <c:v>Intake</c:v>
                  </c:pt>
                </c:lvl>
              </c:multiLvlStrCache>
            </c:multiLvlStrRef>
          </c:cat>
          <c:val>
            <c:numRef>
              <c:f>Sheet1!$B$2:$B$8</c:f>
              <c:numCache>
                <c:formatCode>General</c:formatCode>
                <c:ptCount val="7"/>
                <c:pt idx="0">
                  <c:v>1</c:v>
                </c:pt>
                <c:pt idx="1">
                  <c:v>0</c:v>
                </c:pt>
                <c:pt idx="2">
                  <c:v>1</c:v>
                </c:pt>
                <c:pt idx="3">
                  <c:v>0</c:v>
                </c:pt>
                <c:pt idx="4">
                  <c:v>1</c:v>
                </c:pt>
                <c:pt idx="5">
                  <c:v>2</c:v>
                </c:pt>
                <c:pt idx="6">
                  <c:v>1</c:v>
                </c:pt>
              </c:numCache>
            </c:numRef>
          </c:val>
        </c:ser>
        <c:dLbls>
          <c:numFmt formatCode="#,##0" sourceLinked="0"/>
          <c:txPr>
            <a:bodyPr/>
            <a:lstStyle/>
            <a:p>
              <a:pPr>
                <a:defRPr b="0" i="0" strike="noStrike" sz="1000" u="none">
                  <a:solidFill>
                    <a:srgbClr val="17212B"/>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7212B"/>
                </a:solidFill>
                <a:latin typeface="Arial"/>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in one sentence: a claim review comes down to four questions. ClaimFlow AI prepares the file with seven agents and a person decides. The picture on the right is a real claim package produced by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claim review answers four questions. A plain chat model can invent clauses, get the arithmetic wrong, accuse people, obey hidden instructions or decide for you. Each of those is a failure here, so the design starts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typical manual process. We are not quoting statistics because we did not measure them. The point is that every step depends on one person's attention and nothing connects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extract, search, check and recommend. Three rules hold everywhere: code verifies what a model says, money comes from code, and a policy statement needs a verified quote. A person makes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agents, each with a typed output. Intake, policy and damage need nothing and run first. Evidence, risk and assessment need intake. Compliance needs four of them. They communicate only through the shared claim state, one copy per agent, and the orchestrator saves every result. Model use differs by agent: evidence and assessment use no model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ends as done, warning, failed or skipped, and each is saved. A failure never stops the claim reaching a person. When a document is added, only the affected steps run again. Evidence and assessment make no model call, and the whole claim uses at most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is read, split by section, embedded and searched with vector and keyword search together. The policy agent writes its own search queries. A finding exists only if its quote is found word for word on the cited page, and an amount only if it is inside the quote. If the policy does not say, the answer is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demonstration. Follow the demo script: load the claim, show the documents, run the seven agents, ask the policy, show evidence and risk, show the calculation, record the human decision, and generate the package. Say clearly that in Demo Mode the damage step is a limited demo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recommends and a person decides. The review page and the package show the AI recommendation and the human decision as separate items. If the reviewer disagrees with the AI they must write why, and the package records that they overrode it. The guardrails on the right are all implemented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agent framework: the orchestrator is plain Python. Models are swappable through one provider layer. The RAG stack uses PyMuPDF, fastembed, FAISS and BM25, with fallbacks so the app still starts if a library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properties we can show, not performance claims. We did not measure time saved or accuracy on real claims, so we do not state 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honesty. These are the limits today, and the next steps are the obvious ones: OCR, more excess types, accounts, a persistent database, and evaluation on real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5C73"/>
        </a:solidFill>
      </p:bgPr>
    </p:bg>
    <p:spTree>
      <p:nvGrpSpPr>
        <p:cNvPr id="1" name=""/>
        <p:cNvGrpSpPr/>
        <p:nvPr/>
      </p:nvGrpSpPr>
      <p:grpSpPr>
        <a:xfrm>
          <a:off x="0" y="0"/>
          <a:ext cx="0" cy="0"/>
          <a:chOff x="0" y="0"/>
          <a:chExt cx="0" cy="0"/>
        </a:xfrm>
      </p:grpSpPr>
      <p:sp>
        <p:nvSpPr>
          <p:cNvPr id="2" name="Text 0"/>
          <p:cNvSpPr txBox="1"/>
          <p:nvPr/>
        </p:nvSpPr>
        <p:spPr>
          <a:xfrm>
            <a:off x="548640" y="640080"/>
            <a:ext cx="4572000" cy="228600"/>
          </a:xfrm>
          <a:prstGeom prst="rect">
            <a:avLst/>
          </a:prstGeom>
          <a:noFill/>
          <a:ln/>
        </p:spPr>
        <p:txBody>
          <a:bodyPr wrap="square" lIns="0" tIns="0" rIns="0" bIns="0" rtlCol="0" anchor="t"/>
          <a:lstStyle/>
          <a:p>
            <a:pPr indent="0" marL="0">
              <a:buNone/>
            </a:pPr>
            <a:r>
              <a:rPr lang="en-US" sz="1100" b="1" spc="300" kern="0" dirty="0">
                <a:solidFill>
                  <a:srgbClr val="B9D3DE"/>
                </a:solidFill>
                <a:latin typeface="Calibri" pitchFamily="34" charset="0"/>
                <a:ea typeface="Calibri" pitchFamily="34" charset="-122"/>
                <a:cs typeface="Calibri" pitchFamily="34" charset="-120"/>
              </a:rPr>
              <a:t>HACKATHON SUBMISSION</a:t>
            </a:r>
            <a:endParaRPr lang="en-US" sz="1100" dirty="0"/>
          </a:p>
        </p:txBody>
      </p:sp>
      <p:sp>
        <p:nvSpPr>
          <p:cNvPr id="3" name="Text 1"/>
          <p:cNvSpPr txBox="1"/>
          <p:nvPr/>
        </p:nvSpPr>
        <p:spPr>
          <a:xfrm>
            <a:off x="548640" y="1005840"/>
            <a:ext cx="5120640" cy="914400"/>
          </a:xfrm>
          <a:prstGeom prst="rect">
            <a:avLst/>
          </a:prstGeom>
          <a:noFill/>
          <a:ln/>
        </p:spPr>
        <p:txBody>
          <a:bodyPr wrap="square" lIns="0" tIns="0" rIns="0" bIns="0" rtlCol="0" anchor="t"/>
          <a:lstStyle/>
          <a:p>
            <a:pPr indent="0" marL="0">
              <a:buNone/>
            </a:pPr>
            <a:r>
              <a:rPr lang="en-US" sz="5200" b="1" dirty="0">
                <a:solidFill>
                  <a:srgbClr val="FFFFFF"/>
                </a:solidFill>
                <a:latin typeface="Calibri" pitchFamily="34" charset="0"/>
                <a:ea typeface="Calibri" pitchFamily="34" charset="-122"/>
                <a:cs typeface="Calibri" pitchFamily="34" charset="-120"/>
              </a:rPr>
              <a:t>ClaimFlow AI</a:t>
            </a:r>
            <a:endParaRPr lang="en-US" sz="5200" dirty="0"/>
          </a:p>
        </p:txBody>
      </p:sp>
      <p:sp>
        <p:nvSpPr>
          <p:cNvPr id="4" name="Text 2"/>
          <p:cNvSpPr txBox="1"/>
          <p:nvPr/>
        </p:nvSpPr>
        <p:spPr>
          <a:xfrm>
            <a:off x="548640" y="2011680"/>
            <a:ext cx="4937760" cy="868680"/>
          </a:xfrm>
          <a:prstGeom prst="rect">
            <a:avLst/>
          </a:prstGeom>
          <a:noFill/>
          <a:ln/>
        </p:spPr>
        <p:txBody>
          <a:bodyPr wrap="square" lIns="0" tIns="0" rIns="0" bIns="0" rtlCol="0" anchor="t"/>
          <a:lstStyle/>
          <a:p>
            <a:pPr indent="0" marL="0">
              <a:buNone/>
            </a:pPr>
            <a:r>
              <a:rPr lang="en-US" sz="2100" dirty="0">
                <a:solidFill>
                  <a:srgbClr val="FFFFFF"/>
                </a:solidFill>
                <a:latin typeface="Calibri" pitchFamily="34" charset="0"/>
                <a:ea typeface="Calibri" pitchFamily="34" charset="-122"/>
                <a:cs typeface="Calibri" pitchFamily="34" charset="-120"/>
              </a:rPr>
              <a:t>Seven AI agents prepare the claim file. A person makes the decision.</a:t>
            </a:r>
            <a:endParaRPr lang="en-US" sz="2100" dirty="0"/>
          </a:p>
        </p:txBody>
      </p:sp>
      <p:sp>
        <p:nvSpPr>
          <p:cNvPr id="5" name="Shape 3"/>
          <p:cNvSpPr/>
          <p:nvPr/>
        </p:nvSpPr>
        <p:spPr>
          <a:xfrm>
            <a:off x="548640" y="3246120"/>
            <a:ext cx="1188720" cy="310896"/>
          </a:xfrm>
          <a:prstGeom prst="roundRect">
            <a:avLst>
              <a:gd name="adj" fmla="val 50000"/>
            </a:avLst>
          </a:prstGeom>
          <a:solidFill>
            <a:srgbClr val="1D5C73"/>
          </a:solidFill>
          <a:ln w="12700">
            <a:solidFill>
              <a:srgbClr val="B9D3DE"/>
            </a:solidFill>
            <a:prstDash val="solid"/>
          </a:ln>
        </p:spPr>
      </p:sp>
      <p:sp>
        <p:nvSpPr>
          <p:cNvPr id="6" name="Text 4"/>
          <p:cNvSpPr txBox="1"/>
          <p:nvPr/>
        </p:nvSpPr>
        <p:spPr>
          <a:xfrm>
            <a:off x="548640" y="3246120"/>
            <a:ext cx="118872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Generative AI</a:t>
            </a:r>
            <a:endParaRPr lang="en-US" sz="1100" dirty="0"/>
          </a:p>
        </p:txBody>
      </p:sp>
      <p:sp>
        <p:nvSpPr>
          <p:cNvPr id="7" name="Shape 5"/>
          <p:cNvSpPr/>
          <p:nvPr/>
        </p:nvSpPr>
        <p:spPr>
          <a:xfrm>
            <a:off x="1828800" y="3246120"/>
            <a:ext cx="1005840" cy="310896"/>
          </a:xfrm>
          <a:prstGeom prst="roundRect">
            <a:avLst>
              <a:gd name="adj" fmla="val 50000"/>
            </a:avLst>
          </a:prstGeom>
          <a:solidFill>
            <a:srgbClr val="1D5C73"/>
          </a:solidFill>
          <a:ln w="12700">
            <a:solidFill>
              <a:srgbClr val="B9D3DE"/>
            </a:solidFill>
            <a:prstDash val="solid"/>
          </a:ln>
        </p:spPr>
      </p:sp>
      <p:sp>
        <p:nvSpPr>
          <p:cNvPr id="8" name="Text 6"/>
          <p:cNvSpPr txBox="1"/>
          <p:nvPr/>
        </p:nvSpPr>
        <p:spPr>
          <a:xfrm>
            <a:off x="1828800" y="3246120"/>
            <a:ext cx="1005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Agentic AI</a:t>
            </a:r>
            <a:endParaRPr lang="en-US" sz="1100" dirty="0"/>
          </a:p>
        </p:txBody>
      </p:sp>
      <p:sp>
        <p:nvSpPr>
          <p:cNvPr id="9" name="Shape 7"/>
          <p:cNvSpPr/>
          <p:nvPr/>
        </p:nvSpPr>
        <p:spPr>
          <a:xfrm>
            <a:off x="2926080" y="3246120"/>
            <a:ext cx="1600200" cy="310896"/>
          </a:xfrm>
          <a:prstGeom prst="roundRect">
            <a:avLst>
              <a:gd name="adj" fmla="val 50000"/>
            </a:avLst>
          </a:prstGeom>
          <a:solidFill>
            <a:srgbClr val="1D5C73"/>
          </a:solidFill>
          <a:ln w="12700">
            <a:solidFill>
              <a:srgbClr val="B9D3DE"/>
            </a:solidFill>
            <a:prstDash val="solid"/>
          </a:ln>
        </p:spPr>
      </p:sp>
      <p:sp>
        <p:nvSpPr>
          <p:cNvPr id="10" name="Text 8"/>
          <p:cNvSpPr txBox="1"/>
          <p:nvPr/>
        </p:nvSpPr>
        <p:spPr>
          <a:xfrm>
            <a:off x="2926080" y="3246120"/>
            <a:ext cx="160020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Multi-agent system</a:t>
            </a:r>
            <a:endParaRPr lang="en-US" sz="1100" dirty="0"/>
          </a:p>
        </p:txBody>
      </p:sp>
      <p:sp>
        <p:nvSpPr>
          <p:cNvPr id="11" name="Shape 9"/>
          <p:cNvSpPr/>
          <p:nvPr/>
        </p:nvSpPr>
        <p:spPr>
          <a:xfrm>
            <a:off x="548640" y="3657600"/>
            <a:ext cx="640080" cy="310896"/>
          </a:xfrm>
          <a:prstGeom prst="roundRect">
            <a:avLst>
              <a:gd name="adj" fmla="val 50000"/>
            </a:avLst>
          </a:prstGeom>
          <a:solidFill>
            <a:srgbClr val="1D5C73"/>
          </a:solidFill>
          <a:ln w="12700">
            <a:solidFill>
              <a:srgbClr val="B9D3DE"/>
            </a:solidFill>
            <a:prstDash val="solid"/>
          </a:ln>
        </p:spPr>
      </p:sp>
      <p:sp>
        <p:nvSpPr>
          <p:cNvPr id="12" name="Text 10"/>
          <p:cNvSpPr txBox="1"/>
          <p:nvPr/>
        </p:nvSpPr>
        <p:spPr>
          <a:xfrm>
            <a:off x="548640" y="3657600"/>
            <a:ext cx="64008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RAG</a:t>
            </a:r>
            <a:endParaRPr lang="en-US" sz="1100" dirty="0"/>
          </a:p>
        </p:txBody>
      </p:sp>
      <p:sp>
        <p:nvSpPr>
          <p:cNvPr id="13" name="Shape 11"/>
          <p:cNvSpPr/>
          <p:nvPr/>
        </p:nvSpPr>
        <p:spPr>
          <a:xfrm>
            <a:off x="1280160" y="3657600"/>
            <a:ext cx="1463040" cy="310896"/>
          </a:xfrm>
          <a:prstGeom prst="roundRect">
            <a:avLst>
              <a:gd name="adj" fmla="val 50000"/>
            </a:avLst>
          </a:prstGeom>
          <a:solidFill>
            <a:srgbClr val="1D5C73"/>
          </a:solidFill>
          <a:ln w="12700">
            <a:solidFill>
              <a:srgbClr val="B9D3DE"/>
            </a:solidFill>
            <a:prstDash val="solid"/>
          </a:ln>
        </p:spPr>
      </p:sp>
      <p:sp>
        <p:nvSpPr>
          <p:cNvPr id="14" name="Text 12"/>
          <p:cNvSpPr txBox="1"/>
          <p:nvPr/>
        </p:nvSpPr>
        <p:spPr>
          <a:xfrm>
            <a:off x="1280160" y="3657600"/>
            <a:ext cx="14630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Human in the loop</a:t>
            </a:r>
            <a:endParaRPr lang="en-US" sz="1100" dirty="0"/>
          </a:p>
        </p:txBody>
      </p:sp>
      <p:sp>
        <p:nvSpPr>
          <p:cNvPr id="15" name="Text 13"/>
          <p:cNvSpPr txBox="1"/>
          <p:nvPr/>
        </p:nvSpPr>
        <p:spPr>
          <a:xfrm>
            <a:off x="548640" y="4480560"/>
            <a:ext cx="4937760" cy="228600"/>
          </a:xfrm>
          <a:prstGeom prst="rect">
            <a:avLst/>
          </a:prstGeom>
          <a:noFill/>
          <a:ln/>
        </p:spPr>
        <p:txBody>
          <a:bodyPr wrap="square" lIns="0" tIns="0" rIns="0" bIns="0" rtlCol="0" anchor="t"/>
          <a:lstStyle/>
          <a:p>
            <a:pPr indent="0" marL="0">
              <a:buNone/>
            </a:pPr>
            <a:r>
              <a:rPr lang="en-US" sz="1200" dirty="0">
                <a:solidFill>
                  <a:srgbClr val="B9D3DE"/>
                </a:solidFill>
                <a:latin typeface="Calibri" pitchFamily="34" charset="0"/>
                <a:ea typeface="Calibri" pitchFamily="34" charset="-122"/>
                <a:cs typeface="Calibri" pitchFamily="34" charset="-120"/>
              </a:rPr>
              <a:t>[Team name]      [Hackathon name]      [Date]</a:t>
            </a:r>
            <a:endParaRPr lang="en-US" sz="1200" dirty="0"/>
          </a:p>
        </p:txBody>
      </p:sp>
      <p:pic>
        <p:nvPicPr>
          <p:cNvPr id="16" name="Image 0" descr="Page one of a claim package generated by ClaimFlow AI">    </p:cNvPr>
          <p:cNvPicPr>
            <a:picLocks noChangeAspect="1"/>
          </p:cNvPicPr>
          <p:nvPr/>
        </p:nvPicPr>
        <p:blipFill>
          <a:blip r:embed="rId1"/>
          <a:stretch>
            <a:fillRect/>
          </a:stretch>
        </p:blipFill>
        <p:spPr>
          <a:xfrm>
            <a:off x="5989320" y="640080"/>
            <a:ext cx="2697480" cy="3069640"/>
          </a:xfrm>
          <a:prstGeom prst="rect">
            <a:avLst/>
          </a:prstGeom>
          <a:effectLst>
            <a:outerShdw sx="100000" sy="100000" kx="0" ky="0" algn="bl" rotWithShape="0" blurRad="152400" dist="50800" dir="5400000">
              <a:srgbClr val="000000">
                <a:alpha val="35000"/>
              </a:srgbClr>
            </a:outerShdw>
          </a:effectLst>
        </p:spPr>
      </p:pic>
      <p:sp>
        <p:nvSpPr>
          <p:cNvPr id="17" name="Text 14"/>
          <p:cNvSpPr txBox="1"/>
          <p:nvPr/>
        </p:nvSpPr>
        <p:spPr>
          <a:xfrm>
            <a:off x="5989320" y="3931920"/>
            <a:ext cx="2697480" cy="182880"/>
          </a:xfrm>
          <a:prstGeom prst="rect">
            <a:avLst/>
          </a:prstGeom>
          <a:noFill/>
          <a:ln/>
        </p:spPr>
        <p:txBody>
          <a:bodyPr wrap="square" lIns="0" tIns="0" rIns="0" bIns="0" rtlCol="0" anchor="t"/>
          <a:lstStyle/>
          <a:p>
            <a:pPr algn="ctr" indent="0" marL="0">
              <a:buNone/>
            </a:pPr>
            <a:r>
              <a:rPr lang="en-US" sz="900" dirty="0">
                <a:solidFill>
                  <a:srgbClr val="B9D3DE"/>
                </a:solidFill>
                <a:latin typeface="Calibri" pitchFamily="34" charset="0"/>
                <a:ea typeface="Calibri" pitchFamily="34" charset="-122"/>
                <a:cs typeface="Calibri" pitchFamily="34" charset="-120"/>
              </a:rPr>
              <a:t>A real claim package, generated by the app</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PROBLEM</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A claim file is many documents that must agree</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457200" y="1371600"/>
            <a:ext cx="2286000" cy="1371600"/>
          </a:xfrm>
          <a:prstGeom prst="roundRect">
            <a:avLst>
              <a:gd name="adj" fmla="val 4667"/>
            </a:avLst>
          </a:prstGeom>
          <a:solidFill>
            <a:srgbClr val="FFFFFF"/>
          </a:solidFill>
          <a:ln w="12700">
            <a:solidFill>
              <a:srgbClr val="C9D1D6"/>
            </a:solidFill>
            <a:prstDash val="solid"/>
          </a:ln>
        </p:spPr>
      </p:sp>
      <p:sp>
        <p:nvSpPr>
          <p:cNvPr id="7" name="Text 5"/>
          <p:cNvSpPr txBox="1"/>
          <p:nvPr/>
        </p:nvSpPr>
        <p:spPr>
          <a:xfrm>
            <a:off x="612648" y="1481328"/>
            <a:ext cx="365760" cy="274320"/>
          </a:xfrm>
          <a:prstGeom prst="rect">
            <a:avLst/>
          </a:prstGeom>
          <a:noFill/>
          <a:ln/>
        </p:spPr>
        <p:txBody>
          <a:bodyPr wrap="square" lIns="0" tIns="0" rIns="0" bIns="0" rtlCol="0" anchor="t"/>
          <a:lstStyle/>
          <a:p>
            <a:pPr indent="0" marL="0">
              <a:buNone/>
            </a:pPr>
            <a:r>
              <a:rPr lang="en-US" sz="1600" b="1" dirty="0">
                <a:solidFill>
                  <a:srgbClr val="1D5C73"/>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612648" y="1783080"/>
            <a:ext cx="2011680" cy="274320"/>
          </a:xfrm>
          <a:prstGeom prst="rect">
            <a:avLst/>
          </a:prstGeom>
          <a:noFill/>
          <a:ln/>
        </p:spPr>
        <p:txBody>
          <a:bodyPr wrap="square" lIns="0" tIns="0" rIns="0" bIns="0" rtlCol="0" anchor="t"/>
          <a:lstStyle/>
          <a:p>
            <a:pPr indent="0" marL="0">
              <a:buNone/>
            </a:pPr>
            <a:r>
              <a:rPr lang="en-US" sz="1300" b="1" dirty="0">
                <a:solidFill>
                  <a:srgbClr val="17212B"/>
                </a:solidFill>
                <a:latin typeface="Calibri" pitchFamily="34" charset="0"/>
                <a:ea typeface="Calibri" pitchFamily="34" charset="-122"/>
                <a:cs typeface="Calibri" pitchFamily="34" charset="-120"/>
              </a:rPr>
              <a:t>Is it covered?</a:t>
            </a:r>
            <a:endParaRPr lang="en-US" sz="1300" dirty="0"/>
          </a:p>
        </p:txBody>
      </p:sp>
      <p:sp>
        <p:nvSpPr>
          <p:cNvPr id="9" name="Text 7"/>
          <p:cNvSpPr txBox="1"/>
          <p:nvPr/>
        </p:nvSpPr>
        <p:spPr>
          <a:xfrm>
            <a:off x="612648" y="2121408"/>
            <a:ext cx="2011680" cy="566928"/>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What does the policy say about this kind of loss, the excess and the limit?</a:t>
            </a:r>
            <a:endParaRPr lang="en-US" sz="1050" dirty="0"/>
          </a:p>
        </p:txBody>
      </p:sp>
      <p:sp>
        <p:nvSpPr>
          <p:cNvPr id="10" name="Shape 8"/>
          <p:cNvSpPr/>
          <p:nvPr/>
        </p:nvSpPr>
        <p:spPr>
          <a:xfrm>
            <a:off x="2880360" y="1371600"/>
            <a:ext cx="2286000" cy="1371600"/>
          </a:xfrm>
          <a:prstGeom prst="roundRect">
            <a:avLst>
              <a:gd name="adj" fmla="val 4667"/>
            </a:avLst>
          </a:prstGeom>
          <a:solidFill>
            <a:srgbClr val="FFFFFF"/>
          </a:solidFill>
          <a:ln w="12700">
            <a:solidFill>
              <a:srgbClr val="C9D1D6"/>
            </a:solidFill>
            <a:prstDash val="solid"/>
          </a:ln>
        </p:spPr>
      </p:sp>
      <p:sp>
        <p:nvSpPr>
          <p:cNvPr id="11" name="Text 9"/>
          <p:cNvSpPr txBox="1"/>
          <p:nvPr/>
        </p:nvSpPr>
        <p:spPr>
          <a:xfrm>
            <a:off x="3035808" y="1481328"/>
            <a:ext cx="365760" cy="274320"/>
          </a:xfrm>
          <a:prstGeom prst="rect">
            <a:avLst/>
          </a:prstGeom>
          <a:noFill/>
          <a:ln/>
        </p:spPr>
        <p:txBody>
          <a:bodyPr wrap="square" lIns="0" tIns="0" rIns="0" bIns="0" rtlCol="0" anchor="t"/>
          <a:lstStyle/>
          <a:p>
            <a:pPr indent="0" marL="0">
              <a:buNone/>
            </a:pPr>
            <a:r>
              <a:rPr lang="en-US" sz="1600" b="1" dirty="0">
                <a:solidFill>
                  <a:srgbClr val="1D5C73"/>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3035808" y="1783080"/>
            <a:ext cx="2011680" cy="274320"/>
          </a:xfrm>
          <a:prstGeom prst="rect">
            <a:avLst/>
          </a:prstGeom>
          <a:noFill/>
          <a:ln/>
        </p:spPr>
        <p:txBody>
          <a:bodyPr wrap="square" lIns="0" tIns="0" rIns="0" bIns="0" rtlCol="0" anchor="t"/>
          <a:lstStyle/>
          <a:p>
            <a:pPr indent="0" marL="0">
              <a:buNone/>
            </a:pPr>
            <a:r>
              <a:rPr lang="en-US" sz="1300" b="1" dirty="0">
                <a:solidFill>
                  <a:srgbClr val="17212B"/>
                </a:solidFill>
                <a:latin typeface="Calibri" pitchFamily="34" charset="0"/>
                <a:ea typeface="Calibri" pitchFamily="34" charset="-122"/>
                <a:cs typeface="Calibri" pitchFamily="34" charset="-120"/>
              </a:rPr>
              <a:t>Is the evidence complete?</a:t>
            </a:r>
            <a:endParaRPr lang="en-US" sz="1300" dirty="0"/>
          </a:p>
        </p:txBody>
      </p:sp>
      <p:sp>
        <p:nvSpPr>
          <p:cNvPr id="13" name="Text 11"/>
          <p:cNvSpPr txBox="1"/>
          <p:nvPr/>
        </p:nvSpPr>
        <p:spPr>
          <a:xfrm>
            <a:off x="3035808" y="2121408"/>
            <a:ext cx="2011680" cy="566928"/>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Report, quotation, photos and the policy: attached and readable?</a:t>
            </a:r>
            <a:endParaRPr lang="en-US" sz="1050" dirty="0"/>
          </a:p>
        </p:txBody>
      </p:sp>
      <p:sp>
        <p:nvSpPr>
          <p:cNvPr id="14" name="Shape 12"/>
          <p:cNvSpPr/>
          <p:nvPr/>
        </p:nvSpPr>
        <p:spPr>
          <a:xfrm>
            <a:off x="457200" y="2880360"/>
            <a:ext cx="2286000" cy="1371600"/>
          </a:xfrm>
          <a:prstGeom prst="roundRect">
            <a:avLst>
              <a:gd name="adj" fmla="val 4667"/>
            </a:avLst>
          </a:prstGeom>
          <a:solidFill>
            <a:srgbClr val="FFFFFF"/>
          </a:solidFill>
          <a:ln w="12700">
            <a:solidFill>
              <a:srgbClr val="C9D1D6"/>
            </a:solidFill>
            <a:prstDash val="solid"/>
          </a:ln>
        </p:spPr>
      </p:sp>
      <p:sp>
        <p:nvSpPr>
          <p:cNvPr id="15" name="Text 13"/>
          <p:cNvSpPr txBox="1"/>
          <p:nvPr/>
        </p:nvSpPr>
        <p:spPr>
          <a:xfrm>
            <a:off x="612648" y="2990088"/>
            <a:ext cx="365760" cy="274320"/>
          </a:xfrm>
          <a:prstGeom prst="rect">
            <a:avLst/>
          </a:prstGeom>
          <a:noFill/>
          <a:ln/>
        </p:spPr>
        <p:txBody>
          <a:bodyPr wrap="square" lIns="0" tIns="0" rIns="0" bIns="0" rtlCol="0" anchor="t"/>
          <a:lstStyle/>
          <a:p>
            <a:pPr indent="0" marL="0">
              <a:buNone/>
            </a:pPr>
            <a:r>
              <a:rPr lang="en-US" sz="1600" b="1" dirty="0">
                <a:solidFill>
                  <a:srgbClr val="1D5C73"/>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612648" y="3291840"/>
            <a:ext cx="2011680" cy="274320"/>
          </a:xfrm>
          <a:prstGeom prst="rect">
            <a:avLst/>
          </a:prstGeom>
          <a:noFill/>
          <a:ln/>
        </p:spPr>
        <p:txBody>
          <a:bodyPr wrap="square" lIns="0" tIns="0" rIns="0" bIns="0" rtlCol="0" anchor="t"/>
          <a:lstStyle/>
          <a:p>
            <a:pPr indent="0" marL="0">
              <a:buNone/>
            </a:pPr>
            <a:r>
              <a:rPr lang="en-US" sz="1300" b="1" dirty="0">
                <a:solidFill>
                  <a:srgbClr val="17212B"/>
                </a:solidFill>
                <a:latin typeface="Calibri" pitchFamily="34" charset="0"/>
                <a:ea typeface="Calibri" pitchFamily="34" charset="-122"/>
                <a:cs typeface="Calibri" pitchFamily="34" charset="-120"/>
              </a:rPr>
              <a:t>Do the documents agree?</a:t>
            </a:r>
            <a:endParaRPr lang="en-US" sz="1300" dirty="0"/>
          </a:p>
        </p:txBody>
      </p:sp>
      <p:sp>
        <p:nvSpPr>
          <p:cNvPr id="17" name="Text 15"/>
          <p:cNvSpPr txBox="1"/>
          <p:nvPr/>
        </p:nvSpPr>
        <p:spPr>
          <a:xfrm>
            <a:off x="612648" y="3630168"/>
            <a:ext cx="2011680" cy="566928"/>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Dates, names, policy number and amounts across the form and the files.</a:t>
            </a:r>
            <a:endParaRPr lang="en-US" sz="1050" dirty="0"/>
          </a:p>
        </p:txBody>
      </p:sp>
      <p:sp>
        <p:nvSpPr>
          <p:cNvPr id="18" name="Shape 16"/>
          <p:cNvSpPr/>
          <p:nvPr/>
        </p:nvSpPr>
        <p:spPr>
          <a:xfrm>
            <a:off x="2880360" y="2880360"/>
            <a:ext cx="2286000" cy="1371600"/>
          </a:xfrm>
          <a:prstGeom prst="roundRect">
            <a:avLst>
              <a:gd name="adj" fmla="val 4667"/>
            </a:avLst>
          </a:prstGeom>
          <a:solidFill>
            <a:srgbClr val="FFFFFF"/>
          </a:solidFill>
          <a:ln w="12700">
            <a:solidFill>
              <a:srgbClr val="C9D1D6"/>
            </a:solidFill>
            <a:prstDash val="solid"/>
          </a:ln>
        </p:spPr>
      </p:sp>
      <p:sp>
        <p:nvSpPr>
          <p:cNvPr id="19" name="Text 17"/>
          <p:cNvSpPr txBox="1"/>
          <p:nvPr/>
        </p:nvSpPr>
        <p:spPr>
          <a:xfrm>
            <a:off x="3035808" y="2990088"/>
            <a:ext cx="365760" cy="274320"/>
          </a:xfrm>
          <a:prstGeom prst="rect">
            <a:avLst/>
          </a:prstGeom>
          <a:noFill/>
          <a:ln/>
        </p:spPr>
        <p:txBody>
          <a:bodyPr wrap="square" lIns="0" tIns="0" rIns="0" bIns="0" rtlCol="0" anchor="t"/>
          <a:lstStyle/>
          <a:p>
            <a:pPr indent="0" marL="0">
              <a:buNone/>
            </a:pPr>
            <a:r>
              <a:rPr lang="en-US" sz="1600" b="1" dirty="0">
                <a:solidFill>
                  <a:srgbClr val="1D5C73"/>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3035808" y="3291840"/>
            <a:ext cx="2011680" cy="274320"/>
          </a:xfrm>
          <a:prstGeom prst="rect">
            <a:avLst/>
          </a:prstGeom>
          <a:noFill/>
          <a:ln/>
        </p:spPr>
        <p:txBody>
          <a:bodyPr wrap="square" lIns="0" tIns="0" rIns="0" bIns="0" rtlCol="0" anchor="t"/>
          <a:lstStyle/>
          <a:p>
            <a:pPr indent="0" marL="0">
              <a:buNone/>
            </a:pPr>
            <a:r>
              <a:rPr lang="en-US" sz="1300" b="1" dirty="0">
                <a:solidFill>
                  <a:srgbClr val="17212B"/>
                </a:solidFill>
                <a:latin typeface="Calibri" pitchFamily="34" charset="0"/>
                <a:ea typeface="Calibri" pitchFamily="34" charset="-122"/>
                <a:cs typeface="Calibri" pitchFamily="34" charset="-120"/>
              </a:rPr>
              <a:t>How much could be paid?</a:t>
            </a:r>
            <a:endParaRPr lang="en-US" sz="1300" dirty="0"/>
          </a:p>
        </p:txBody>
      </p:sp>
      <p:sp>
        <p:nvSpPr>
          <p:cNvPr id="21" name="Text 19"/>
          <p:cNvSpPr txBox="1"/>
          <p:nvPr/>
        </p:nvSpPr>
        <p:spPr>
          <a:xfrm>
            <a:off x="3035808" y="3630168"/>
            <a:ext cx="2011680" cy="566928"/>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The estimate minus the excess, capped at the limit.</a:t>
            </a:r>
            <a:endParaRPr lang="en-US" sz="1050" dirty="0"/>
          </a:p>
        </p:txBody>
      </p:sp>
      <p:sp>
        <p:nvSpPr>
          <p:cNvPr id="22" name="Shape 20"/>
          <p:cNvSpPr/>
          <p:nvPr/>
        </p:nvSpPr>
        <p:spPr>
          <a:xfrm>
            <a:off x="5440680" y="1371600"/>
            <a:ext cx="3246120" cy="2880360"/>
          </a:xfrm>
          <a:prstGeom prst="roundRect">
            <a:avLst>
              <a:gd name="adj" fmla="val 2222"/>
            </a:avLst>
          </a:prstGeom>
          <a:solidFill>
            <a:srgbClr val="FBF0D9"/>
          </a:solidFill>
          <a:ln w="12700">
            <a:solidFill>
              <a:srgbClr val="B7791F"/>
            </a:solidFill>
            <a:prstDash val="solid"/>
          </a:ln>
        </p:spPr>
      </p:sp>
      <p:sp>
        <p:nvSpPr>
          <p:cNvPr id="23" name="Text 21"/>
          <p:cNvSpPr txBox="1"/>
          <p:nvPr/>
        </p:nvSpPr>
        <p:spPr>
          <a:xfrm>
            <a:off x="5596128" y="1508760"/>
            <a:ext cx="2971800" cy="274320"/>
          </a:xfrm>
          <a:prstGeom prst="rect">
            <a:avLst/>
          </a:prstGeom>
          <a:noFill/>
          <a:ln/>
        </p:spPr>
        <p:txBody>
          <a:bodyPr wrap="square" lIns="0" tIns="0" rIns="0" bIns="0" rtlCol="0" anchor="t"/>
          <a:lstStyle/>
          <a:p>
            <a:pPr indent="0" marL="0">
              <a:buNone/>
            </a:pPr>
            <a:r>
              <a:rPr lang="en-US" sz="1400" b="1" dirty="0">
                <a:solidFill>
                  <a:srgbClr val="8A5A00"/>
                </a:solidFill>
                <a:latin typeface="Calibri" pitchFamily="34" charset="0"/>
                <a:ea typeface="Calibri" pitchFamily="34" charset="-122"/>
                <a:cs typeface="Calibri" pitchFamily="34" charset="-120"/>
              </a:rPr>
              <a:t>A chat model alone is not safe here</a:t>
            </a:r>
            <a:endParaRPr lang="en-US" sz="1400" dirty="0"/>
          </a:p>
        </p:txBody>
      </p:sp>
      <p:sp>
        <p:nvSpPr>
          <p:cNvPr id="24" name="Text 22"/>
          <p:cNvSpPr txBox="1"/>
          <p:nvPr/>
        </p:nvSpPr>
        <p:spPr>
          <a:xfrm>
            <a:off x="5596128" y="1920240"/>
            <a:ext cx="2926080"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7212B"/>
                </a:solidFill>
                <a:latin typeface="Calibri" pitchFamily="34" charset="0"/>
                <a:ea typeface="Calibri" pitchFamily="34" charset="-122"/>
                <a:cs typeface="Calibri" pitchFamily="34" charset="-120"/>
              </a:rPr>
              <a:t>It can invent a policy clause</a:t>
            </a:r>
            <a:endParaRPr lang="en-US" sz="1300" dirty="0"/>
          </a:p>
          <a:p>
            <a:pPr marL="177800" indent="-177800">
              <a:spcAft>
                <a:spcPts val="500"/>
              </a:spcAft>
              <a:buSzPct val="100000"/>
              <a:buChar char="•"/>
            </a:pPr>
            <a:r>
              <a:rPr lang="en-US" sz="1300" dirty="0">
                <a:solidFill>
                  <a:srgbClr val="17212B"/>
                </a:solidFill>
                <a:latin typeface="Calibri" pitchFamily="34" charset="0"/>
                <a:ea typeface="Calibri" pitchFamily="34" charset="-122"/>
                <a:cs typeface="Calibri" pitchFamily="34" charset="-120"/>
              </a:rPr>
              <a:t>It can miscalculate the amount</a:t>
            </a:r>
            <a:endParaRPr lang="en-US" sz="1300" dirty="0"/>
          </a:p>
          <a:p>
            <a:pPr marL="177800" indent="-177800">
              <a:spcAft>
                <a:spcPts val="500"/>
              </a:spcAft>
              <a:buSzPct val="100000"/>
              <a:buChar char="•"/>
            </a:pPr>
            <a:r>
              <a:rPr lang="en-US" sz="1300" dirty="0">
                <a:solidFill>
                  <a:srgbClr val="17212B"/>
                </a:solidFill>
                <a:latin typeface="Calibri" pitchFamily="34" charset="0"/>
                <a:ea typeface="Calibri" pitchFamily="34" charset="-122"/>
                <a:cs typeface="Calibri" pitchFamily="34" charset="-120"/>
              </a:rPr>
              <a:t>It can accuse a claimant</a:t>
            </a:r>
            <a:endParaRPr lang="en-US" sz="1300" dirty="0"/>
          </a:p>
          <a:p>
            <a:pPr marL="177800" indent="-177800">
              <a:spcAft>
                <a:spcPts val="500"/>
              </a:spcAft>
              <a:buSzPct val="100000"/>
              <a:buChar char="•"/>
            </a:pPr>
            <a:r>
              <a:rPr lang="en-US" sz="1300" dirty="0">
                <a:solidFill>
                  <a:srgbClr val="17212B"/>
                </a:solidFill>
                <a:latin typeface="Calibri" pitchFamily="34" charset="0"/>
                <a:ea typeface="Calibri" pitchFamily="34" charset="-122"/>
                <a:cs typeface="Calibri" pitchFamily="34" charset="-120"/>
              </a:rPr>
              <a:t>It can follow instructions hidden in an uploaded file</a:t>
            </a:r>
            <a:endParaRPr lang="en-US" sz="1300" dirty="0"/>
          </a:p>
          <a:p>
            <a:pPr marL="177800" indent="-177800">
              <a:spcAft>
                <a:spcPts val="500"/>
              </a:spcAft>
              <a:buSzPct val="100000"/>
              <a:buChar char="•"/>
            </a:pPr>
            <a:r>
              <a:rPr lang="en-US" sz="1300" dirty="0">
                <a:solidFill>
                  <a:srgbClr val="17212B"/>
                </a:solidFill>
                <a:latin typeface="Calibri" pitchFamily="34" charset="0"/>
                <a:ea typeface="Calibri" pitchFamily="34" charset="-122"/>
                <a:cs typeface="Calibri" pitchFamily="34" charset="-120"/>
              </a:rPr>
              <a:t>It can quietly make the decision</a:t>
            </a:r>
            <a:endParaRPr lang="en-US" sz="1300" dirty="0"/>
          </a:p>
        </p:txBody>
      </p:sp>
      <p:sp>
        <p:nvSpPr>
          <p:cNvPr id="25" name="Text 23"/>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100" dirty="0">
                <a:solidFill>
                  <a:srgbClr val="5B6670"/>
                </a:solidFill>
                <a:latin typeface="Calibri" pitchFamily="34" charset="0"/>
                <a:ea typeface="Calibri" pitchFamily="34" charset="-122"/>
                <a:cs typeface="Calibri" pitchFamily="34" charset="-120"/>
              </a:rPr>
              <a:t>ClaimFlow AI is built around these five risks.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EXISTING PROCESS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Today one person does every step by hand</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417320"/>
            <a:ext cx="1298448" cy="822960"/>
          </a:xfrm>
          <a:prstGeom prst="roundRect">
            <a:avLst>
              <a:gd name="adj" fmla="val 7778"/>
            </a:avLst>
          </a:prstGeom>
          <a:solidFill>
            <a:srgbClr val="1D5C73"/>
          </a:solidFill>
          <a:ln w="12700">
            <a:solidFill>
              <a:srgbClr val="1D5C73"/>
            </a:solidFill>
            <a:prstDash val="solid"/>
          </a:ln>
        </p:spPr>
      </p:sp>
      <p:sp>
        <p:nvSpPr>
          <p:cNvPr id="7" name="Text 5"/>
          <p:cNvSpPr txBox="1"/>
          <p:nvPr/>
        </p:nvSpPr>
        <p:spPr>
          <a:xfrm>
            <a:off x="566928" y="1481328"/>
            <a:ext cx="274320" cy="228600"/>
          </a:xfrm>
          <a:prstGeom prst="rect">
            <a:avLst/>
          </a:prstGeom>
          <a:noFill/>
          <a:ln/>
        </p:spPr>
        <p:txBody>
          <a:bodyPr wrap="square" lIns="0" tIns="0" rIns="0" bIns="0" rtlCol="0" anchor="t"/>
          <a:lstStyle/>
          <a:p>
            <a:pPr indent="0" marL="0">
              <a:buNone/>
            </a:pPr>
            <a:r>
              <a:rPr lang="en-US" sz="1200" b="1" dirty="0">
                <a:solidFill>
                  <a:srgbClr val="B9D3DE"/>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566928" y="1719072"/>
            <a:ext cx="1115568"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Receive the claim</a:t>
            </a:r>
            <a:endParaRPr lang="en-US" sz="1200" dirty="0"/>
          </a:p>
        </p:txBody>
      </p:sp>
      <p:sp>
        <p:nvSpPr>
          <p:cNvPr id="9" name="Shape 7"/>
          <p:cNvSpPr/>
          <p:nvPr/>
        </p:nvSpPr>
        <p:spPr>
          <a:xfrm>
            <a:off x="457200" y="2377440"/>
            <a:ext cx="1298448" cy="1600200"/>
          </a:xfrm>
          <a:prstGeom prst="roundRect">
            <a:avLst>
              <a:gd name="adj" fmla="val 4930"/>
            </a:avLst>
          </a:prstGeom>
          <a:solidFill>
            <a:srgbClr val="FBF0D9"/>
          </a:solidFill>
          <a:ln w="12700">
            <a:solidFill>
              <a:srgbClr val="EBD29B"/>
            </a:solidFill>
            <a:prstDash val="solid"/>
          </a:ln>
        </p:spPr>
      </p:sp>
      <p:sp>
        <p:nvSpPr>
          <p:cNvPr id="10" name="Text 8"/>
          <p:cNvSpPr txBox="1"/>
          <p:nvPr/>
        </p:nvSpPr>
        <p:spPr>
          <a:xfrm>
            <a:off x="566928" y="2487168"/>
            <a:ext cx="1097280" cy="1417320"/>
          </a:xfrm>
          <a:prstGeom prst="rect">
            <a:avLst/>
          </a:prstGeom>
          <a:noFill/>
          <a:ln/>
        </p:spPr>
        <p:txBody>
          <a:bodyPr wrap="square" lIns="0" tIns="0" rIns="0" bIns="0" rtlCol="0" anchor="t"/>
          <a:lstStyle/>
          <a:p>
            <a:pPr indent="0" marL="0">
              <a:buNone/>
            </a:pPr>
            <a:r>
              <a:rPr lang="en-US" sz="1100" dirty="0">
                <a:solidFill>
                  <a:srgbClr val="17212B"/>
                </a:solidFill>
                <a:latin typeface="Calibri" pitchFamily="34" charset="0"/>
                <a:ea typeface="Calibri" pitchFamily="34" charset="-122"/>
                <a:cs typeface="Calibri" pitchFamily="34" charset="-120"/>
              </a:rPr>
              <a:t>Form, policy PDF, report, quotation and photos arrive as separate files.</a:t>
            </a:r>
            <a:endParaRPr lang="en-US" sz="1100" dirty="0"/>
          </a:p>
        </p:txBody>
      </p:sp>
      <p:sp>
        <p:nvSpPr>
          <p:cNvPr id="11" name="Shape 9"/>
          <p:cNvSpPr/>
          <p:nvPr/>
        </p:nvSpPr>
        <p:spPr>
          <a:xfrm>
            <a:off x="1843430" y="1417320"/>
            <a:ext cx="1298448" cy="822960"/>
          </a:xfrm>
          <a:prstGeom prst="roundRect">
            <a:avLst>
              <a:gd name="adj" fmla="val 7778"/>
            </a:avLst>
          </a:prstGeom>
          <a:solidFill>
            <a:srgbClr val="1D5C73"/>
          </a:solidFill>
          <a:ln w="12700">
            <a:solidFill>
              <a:srgbClr val="1D5C73"/>
            </a:solidFill>
            <a:prstDash val="solid"/>
          </a:ln>
        </p:spPr>
      </p:sp>
      <p:sp>
        <p:nvSpPr>
          <p:cNvPr id="12" name="Text 10"/>
          <p:cNvSpPr txBox="1"/>
          <p:nvPr/>
        </p:nvSpPr>
        <p:spPr>
          <a:xfrm>
            <a:off x="1953158" y="1481328"/>
            <a:ext cx="274320" cy="228600"/>
          </a:xfrm>
          <a:prstGeom prst="rect">
            <a:avLst/>
          </a:prstGeom>
          <a:noFill/>
          <a:ln/>
        </p:spPr>
        <p:txBody>
          <a:bodyPr wrap="square" lIns="0" tIns="0" rIns="0" bIns="0" rtlCol="0" anchor="t"/>
          <a:lstStyle/>
          <a:p>
            <a:pPr indent="0" marL="0">
              <a:buNone/>
            </a:pPr>
            <a:r>
              <a:rPr lang="en-US" sz="1200" b="1" dirty="0">
                <a:solidFill>
                  <a:srgbClr val="B9D3DE"/>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953158" y="1719072"/>
            <a:ext cx="1115568"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Read each document</a:t>
            </a:r>
            <a:endParaRPr lang="en-US" sz="1200" dirty="0"/>
          </a:p>
        </p:txBody>
      </p:sp>
      <p:sp>
        <p:nvSpPr>
          <p:cNvPr id="14" name="Shape 12"/>
          <p:cNvSpPr/>
          <p:nvPr/>
        </p:nvSpPr>
        <p:spPr>
          <a:xfrm>
            <a:off x="1843430" y="2377440"/>
            <a:ext cx="1298448" cy="1600200"/>
          </a:xfrm>
          <a:prstGeom prst="roundRect">
            <a:avLst>
              <a:gd name="adj" fmla="val 4930"/>
            </a:avLst>
          </a:prstGeom>
          <a:solidFill>
            <a:srgbClr val="FBF0D9"/>
          </a:solidFill>
          <a:ln w="12700">
            <a:solidFill>
              <a:srgbClr val="EBD29B"/>
            </a:solidFill>
            <a:prstDash val="solid"/>
          </a:ln>
        </p:spPr>
      </p:sp>
      <p:sp>
        <p:nvSpPr>
          <p:cNvPr id="15" name="Text 13"/>
          <p:cNvSpPr txBox="1"/>
          <p:nvPr/>
        </p:nvSpPr>
        <p:spPr>
          <a:xfrm>
            <a:off x="1953158" y="2487168"/>
            <a:ext cx="1097280" cy="1417320"/>
          </a:xfrm>
          <a:prstGeom prst="rect">
            <a:avLst/>
          </a:prstGeom>
          <a:noFill/>
          <a:ln/>
        </p:spPr>
        <p:txBody>
          <a:bodyPr wrap="square" lIns="0" tIns="0" rIns="0" bIns="0" rtlCol="0" anchor="t"/>
          <a:lstStyle/>
          <a:p>
            <a:pPr indent="0" marL="0">
              <a:buNone/>
            </a:pPr>
            <a:r>
              <a:rPr lang="en-US" sz="1100" dirty="0">
                <a:solidFill>
                  <a:srgbClr val="17212B"/>
                </a:solidFill>
                <a:latin typeface="Calibri" pitchFamily="34" charset="0"/>
                <a:ea typeface="Calibri" pitchFamily="34" charset="-122"/>
                <a:cs typeface="Calibri" pitchFamily="34" charset="-120"/>
              </a:rPr>
              <a:t>Long, repetitive reading before any judgement.</a:t>
            </a:r>
            <a:endParaRPr lang="en-US" sz="1100" dirty="0"/>
          </a:p>
        </p:txBody>
      </p:sp>
      <p:sp>
        <p:nvSpPr>
          <p:cNvPr id="16" name="Shape 14"/>
          <p:cNvSpPr/>
          <p:nvPr/>
        </p:nvSpPr>
        <p:spPr>
          <a:xfrm>
            <a:off x="3229661" y="1417320"/>
            <a:ext cx="1298448" cy="822960"/>
          </a:xfrm>
          <a:prstGeom prst="roundRect">
            <a:avLst>
              <a:gd name="adj" fmla="val 7778"/>
            </a:avLst>
          </a:prstGeom>
          <a:solidFill>
            <a:srgbClr val="1D5C73"/>
          </a:solidFill>
          <a:ln w="12700">
            <a:solidFill>
              <a:srgbClr val="1D5C73"/>
            </a:solidFill>
            <a:prstDash val="solid"/>
          </a:ln>
        </p:spPr>
      </p:sp>
      <p:sp>
        <p:nvSpPr>
          <p:cNvPr id="17" name="Text 15"/>
          <p:cNvSpPr txBox="1"/>
          <p:nvPr/>
        </p:nvSpPr>
        <p:spPr>
          <a:xfrm>
            <a:off x="3339389" y="1481328"/>
            <a:ext cx="274320" cy="228600"/>
          </a:xfrm>
          <a:prstGeom prst="rect">
            <a:avLst/>
          </a:prstGeom>
          <a:noFill/>
          <a:ln/>
        </p:spPr>
        <p:txBody>
          <a:bodyPr wrap="square" lIns="0" tIns="0" rIns="0" bIns="0" rtlCol="0" anchor="t"/>
          <a:lstStyle/>
          <a:p>
            <a:pPr indent="0" marL="0">
              <a:buNone/>
            </a:pPr>
            <a:r>
              <a:rPr lang="en-US" sz="1200" b="1" dirty="0">
                <a:solidFill>
                  <a:srgbClr val="B9D3DE"/>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3339389" y="1719072"/>
            <a:ext cx="1115568"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Search the policy</a:t>
            </a:r>
            <a:endParaRPr lang="en-US" sz="1200" dirty="0"/>
          </a:p>
        </p:txBody>
      </p:sp>
      <p:sp>
        <p:nvSpPr>
          <p:cNvPr id="19" name="Shape 17"/>
          <p:cNvSpPr/>
          <p:nvPr/>
        </p:nvSpPr>
        <p:spPr>
          <a:xfrm>
            <a:off x="3229661" y="2377440"/>
            <a:ext cx="1298448" cy="1600200"/>
          </a:xfrm>
          <a:prstGeom prst="roundRect">
            <a:avLst>
              <a:gd name="adj" fmla="val 4930"/>
            </a:avLst>
          </a:prstGeom>
          <a:solidFill>
            <a:srgbClr val="FBF0D9"/>
          </a:solidFill>
          <a:ln w="12700">
            <a:solidFill>
              <a:srgbClr val="EBD29B"/>
            </a:solidFill>
            <a:prstDash val="solid"/>
          </a:ln>
        </p:spPr>
      </p:sp>
      <p:sp>
        <p:nvSpPr>
          <p:cNvPr id="20" name="Text 18"/>
          <p:cNvSpPr txBox="1"/>
          <p:nvPr/>
        </p:nvSpPr>
        <p:spPr>
          <a:xfrm>
            <a:off x="3339389" y="2487168"/>
            <a:ext cx="1097280" cy="1417320"/>
          </a:xfrm>
          <a:prstGeom prst="rect">
            <a:avLst/>
          </a:prstGeom>
          <a:noFill/>
          <a:ln/>
        </p:spPr>
        <p:txBody>
          <a:bodyPr wrap="square" lIns="0" tIns="0" rIns="0" bIns="0" rtlCol="0" anchor="t"/>
          <a:lstStyle/>
          <a:p>
            <a:pPr indent="0" marL="0">
              <a:buNone/>
            </a:pPr>
            <a:r>
              <a:rPr lang="en-US" sz="1100" dirty="0">
                <a:solidFill>
                  <a:srgbClr val="17212B"/>
                </a:solidFill>
                <a:latin typeface="Calibri" pitchFamily="34" charset="0"/>
                <a:ea typeface="Calibri" pitchFamily="34" charset="-122"/>
                <a:cs typeface="Calibri" pitchFamily="34" charset="-120"/>
              </a:rPr>
              <a:t>Finding the right clause. The excess often differs by claim type.</a:t>
            </a:r>
            <a:endParaRPr lang="en-US" sz="1100" dirty="0"/>
          </a:p>
        </p:txBody>
      </p:sp>
      <p:sp>
        <p:nvSpPr>
          <p:cNvPr id="21" name="Shape 19"/>
          <p:cNvSpPr/>
          <p:nvPr/>
        </p:nvSpPr>
        <p:spPr>
          <a:xfrm>
            <a:off x="4615891" y="1417320"/>
            <a:ext cx="1298448" cy="822960"/>
          </a:xfrm>
          <a:prstGeom prst="roundRect">
            <a:avLst>
              <a:gd name="adj" fmla="val 7778"/>
            </a:avLst>
          </a:prstGeom>
          <a:solidFill>
            <a:srgbClr val="1D5C73"/>
          </a:solidFill>
          <a:ln w="12700">
            <a:solidFill>
              <a:srgbClr val="1D5C73"/>
            </a:solidFill>
            <a:prstDash val="solid"/>
          </a:ln>
        </p:spPr>
      </p:sp>
      <p:sp>
        <p:nvSpPr>
          <p:cNvPr id="22" name="Text 20"/>
          <p:cNvSpPr txBox="1"/>
          <p:nvPr/>
        </p:nvSpPr>
        <p:spPr>
          <a:xfrm>
            <a:off x="4725619" y="1481328"/>
            <a:ext cx="274320" cy="228600"/>
          </a:xfrm>
          <a:prstGeom prst="rect">
            <a:avLst/>
          </a:prstGeom>
          <a:noFill/>
          <a:ln/>
        </p:spPr>
        <p:txBody>
          <a:bodyPr wrap="square" lIns="0" tIns="0" rIns="0" bIns="0" rtlCol="0" anchor="t"/>
          <a:lstStyle/>
          <a:p>
            <a:pPr indent="0" marL="0">
              <a:buNone/>
            </a:pPr>
            <a:r>
              <a:rPr lang="en-US" sz="1200" b="1" dirty="0">
                <a:solidFill>
                  <a:srgbClr val="B9D3DE"/>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4725619" y="1719072"/>
            <a:ext cx="1115568"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Compare details</a:t>
            </a:r>
            <a:endParaRPr lang="en-US" sz="1200" dirty="0"/>
          </a:p>
        </p:txBody>
      </p:sp>
      <p:sp>
        <p:nvSpPr>
          <p:cNvPr id="24" name="Shape 22"/>
          <p:cNvSpPr/>
          <p:nvPr/>
        </p:nvSpPr>
        <p:spPr>
          <a:xfrm>
            <a:off x="4615891" y="2377440"/>
            <a:ext cx="1298448" cy="1600200"/>
          </a:xfrm>
          <a:prstGeom prst="roundRect">
            <a:avLst>
              <a:gd name="adj" fmla="val 4930"/>
            </a:avLst>
          </a:prstGeom>
          <a:solidFill>
            <a:srgbClr val="FBF0D9"/>
          </a:solidFill>
          <a:ln w="12700">
            <a:solidFill>
              <a:srgbClr val="EBD29B"/>
            </a:solidFill>
            <a:prstDash val="solid"/>
          </a:ln>
        </p:spPr>
      </p:sp>
      <p:sp>
        <p:nvSpPr>
          <p:cNvPr id="25" name="Text 23"/>
          <p:cNvSpPr txBox="1"/>
          <p:nvPr/>
        </p:nvSpPr>
        <p:spPr>
          <a:xfrm>
            <a:off x="4725619" y="2487168"/>
            <a:ext cx="1097280" cy="1417320"/>
          </a:xfrm>
          <a:prstGeom prst="rect">
            <a:avLst/>
          </a:prstGeom>
          <a:noFill/>
          <a:ln/>
        </p:spPr>
        <p:txBody>
          <a:bodyPr wrap="square" lIns="0" tIns="0" rIns="0" bIns="0" rtlCol="0" anchor="t"/>
          <a:lstStyle/>
          <a:p>
            <a:pPr indent="0" marL="0">
              <a:buNone/>
            </a:pPr>
            <a:r>
              <a:rPr lang="en-US" sz="1100" dirty="0">
                <a:solidFill>
                  <a:srgbClr val="17212B"/>
                </a:solidFill>
                <a:latin typeface="Calibri" pitchFamily="34" charset="0"/>
                <a:ea typeface="Calibri" pitchFamily="34" charset="-122"/>
                <a:cs typeface="Calibri" pitchFamily="34" charset="-120"/>
              </a:rPr>
              <a:t>Dates, names and amounts checked by eye. Mismatches slip through.</a:t>
            </a:r>
            <a:endParaRPr lang="en-US" sz="1100" dirty="0"/>
          </a:p>
        </p:txBody>
      </p:sp>
      <p:sp>
        <p:nvSpPr>
          <p:cNvPr id="26" name="Shape 24"/>
          <p:cNvSpPr/>
          <p:nvPr/>
        </p:nvSpPr>
        <p:spPr>
          <a:xfrm>
            <a:off x="6002122" y="1417320"/>
            <a:ext cx="1298448" cy="822960"/>
          </a:xfrm>
          <a:prstGeom prst="roundRect">
            <a:avLst>
              <a:gd name="adj" fmla="val 7778"/>
            </a:avLst>
          </a:prstGeom>
          <a:solidFill>
            <a:srgbClr val="1D5C73"/>
          </a:solidFill>
          <a:ln w="12700">
            <a:solidFill>
              <a:srgbClr val="1D5C73"/>
            </a:solidFill>
            <a:prstDash val="solid"/>
          </a:ln>
        </p:spPr>
      </p:sp>
      <p:sp>
        <p:nvSpPr>
          <p:cNvPr id="27" name="Text 25"/>
          <p:cNvSpPr txBox="1"/>
          <p:nvPr/>
        </p:nvSpPr>
        <p:spPr>
          <a:xfrm>
            <a:off x="6111850" y="1481328"/>
            <a:ext cx="274320" cy="228600"/>
          </a:xfrm>
          <a:prstGeom prst="rect">
            <a:avLst/>
          </a:prstGeom>
          <a:noFill/>
          <a:ln/>
        </p:spPr>
        <p:txBody>
          <a:bodyPr wrap="square" lIns="0" tIns="0" rIns="0" bIns="0" rtlCol="0" anchor="t"/>
          <a:lstStyle/>
          <a:p>
            <a:pPr indent="0" marL="0">
              <a:buNone/>
            </a:pPr>
            <a:r>
              <a:rPr lang="en-US" sz="1200" b="1" dirty="0">
                <a:solidFill>
                  <a:srgbClr val="B9D3DE"/>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6111850" y="1719072"/>
            <a:ext cx="1115568"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Do the arithmetic</a:t>
            </a:r>
            <a:endParaRPr lang="en-US" sz="1200" dirty="0"/>
          </a:p>
        </p:txBody>
      </p:sp>
      <p:sp>
        <p:nvSpPr>
          <p:cNvPr id="29" name="Shape 27"/>
          <p:cNvSpPr/>
          <p:nvPr/>
        </p:nvSpPr>
        <p:spPr>
          <a:xfrm>
            <a:off x="6002122" y="2377440"/>
            <a:ext cx="1298448" cy="1600200"/>
          </a:xfrm>
          <a:prstGeom prst="roundRect">
            <a:avLst>
              <a:gd name="adj" fmla="val 4930"/>
            </a:avLst>
          </a:prstGeom>
          <a:solidFill>
            <a:srgbClr val="FBF0D9"/>
          </a:solidFill>
          <a:ln w="12700">
            <a:solidFill>
              <a:srgbClr val="EBD29B"/>
            </a:solidFill>
            <a:prstDash val="solid"/>
          </a:ln>
        </p:spPr>
      </p:sp>
      <p:sp>
        <p:nvSpPr>
          <p:cNvPr id="30" name="Text 28"/>
          <p:cNvSpPr txBox="1"/>
          <p:nvPr/>
        </p:nvSpPr>
        <p:spPr>
          <a:xfrm>
            <a:off x="6111850" y="2487168"/>
            <a:ext cx="1097280" cy="1417320"/>
          </a:xfrm>
          <a:prstGeom prst="rect">
            <a:avLst/>
          </a:prstGeom>
          <a:noFill/>
          <a:ln/>
        </p:spPr>
        <p:txBody>
          <a:bodyPr wrap="square" lIns="0" tIns="0" rIns="0" bIns="0" rtlCol="0" anchor="t"/>
          <a:lstStyle/>
          <a:p>
            <a:pPr indent="0" marL="0">
              <a:buNone/>
            </a:pPr>
            <a:r>
              <a:rPr lang="en-US" sz="1100" dirty="0">
                <a:solidFill>
                  <a:srgbClr val="17212B"/>
                </a:solidFill>
                <a:latin typeface="Calibri" pitchFamily="34" charset="0"/>
                <a:ea typeface="Calibri" pitchFamily="34" charset="-122"/>
                <a:cs typeface="Calibri" pitchFamily="34" charset="-120"/>
              </a:rPr>
              <a:t>Calculator or spreadsheet. One slip changes the payout.</a:t>
            </a:r>
            <a:endParaRPr lang="en-US" sz="1100" dirty="0"/>
          </a:p>
        </p:txBody>
      </p:sp>
      <p:sp>
        <p:nvSpPr>
          <p:cNvPr id="31" name="Shape 29"/>
          <p:cNvSpPr/>
          <p:nvPr/>
        </p:nvSpPr>
        <p:spPr>
          <a:xfrm>
            <a:off x="7388352" y="1417320"/>
            <a:ext cx="1298448" cy="822960"/>
          </a:xfrm>
          <a:prstGeom prst="roundRect">
            <a:avLst>
              <a:gd name="adj" fmla="val 7778"/>
            </a:avLst>
          </a:prstGeom>
          <a:solidFill>
            <a:srgbClr val="1D5C73"/>
          </a:solidFill>
          <a:ln w="12700">
            <a:solidFill>
              <a:srgbClr val="1D5C73"/>
            </a:solidFill>
            <a:prstDash val="solid"/>
          </a:ln>
        </p:spPr>
      </p:sp>
      <p:sp>
        <p:nvSpPr>
          <p:cNvPr id="32" name="Text 30"/>
          <p:cNvSpPr txBox="1"/>
          <p:nvPr/>
        </p:nvSpPr>
        <p:spPr>
          <a:xfrm>
            <a:off x="7498080" y="1481328"/>
            <a:ext cx="274320" cy="228600"/>
          </a:xfrm>
          <a:prstGeom prst="rect">
            <a:avLst/>
          </a:prstGeom>
          <a:noFill/>
          <a:ln/>
        </p:spPr>
        <p:txBody>
          <a:bodyPr wrap="square" lIns="0" tIns="0" rIns="0" bIns="0" rtlCol="0" anchor="t"/>
          <a:lstStyle/>
          <a:p>
            <a:pPr indent="0" marL="0">
              <a:buNone/>
            </a:pPr>
            <a:r>
              <a:rPr lang="en-US" sz="1200" b="1" dirty="0">
                <a:solidFill>
                  <a:srgbClr val="B9D3DE"/>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7498080" y="1719072"/>
            <a:ext cx="1115568"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Write up and decide</a:t>
            </a:r>
            <a:endParaRPr lang="en-US" sz="1200" dirty="0"/>
          </a:p>
        </p:txBody>
      </p:sp>
      <p:sp>
        <p:nvSpPr>
          <p:cNvPr id="34" name="Shape 32"/>
          <p:cNvSpPr/>
          <p:nvPr/>
        </p:nvSpPr>
        <p:spPr>
          <a:xfrm>
            <a:off x="7388352" y="2377440"/>
            <a:ext cx="1298448" cy="1600200"/>
          </a:xfrm>
          <a:prstGeom prst="roundRect">
            <a:avLst>
              <a:gd name="adj" fmla="val 4930"/>
            </a:avLst>
          </a:prstGeom>
          <a:solidFill>
            <a:srgbClr val="FBF0D9"/>
          </a:solidFill>
          <a:ln w="12700">
            <a:solidFill>
              <a:srgbClr val="EBD29B"/>
            </a:solidFill>
            <a:prstDash val="solid"/>
          </a:ln>
        </p:spPr>
      </p:sp>
      <p:sp>
        <p:nvSpPr>
          <p:cNvPr id="35" name="Text 33"/>
          <p:cNvSpPr txBox="1"/>
          <p:nvPr/>
        </p:nvSpPr>
        <p:spPr>
          <a:xfrm>
            <a:off x="7498080" y="2487168"/>
            <a:ext cx="1097280" cy="1417320"/>
          </a:xfrm>
          <a:prstGeom prst="rect">
            <a:avLst/>
          </a:prstGeom>
          <a:noFill/>
          <a:ln/>
        </p:spPr>
        <p:txBody>
          <a:bodyPr wrap="square" lIns="0" tIns="0" rIns="0" bIns="0" rtlCol="0" anchor="t"/>
          <a:lstStyle/>
          <a:p>
            <a:pPr indent="0" marL="0">
              <a:buNone/>
            </a:pPr>
            <a:r>
              <a:rPr lang="en-US" sz="1100" dirty="0">
                <a:solidFill>
                  <a:srgbClr val="17212B"/>
                </a:solidFill>
                <a:latin typeface="Calibri" pitchFamily="34" charset="0"/>
                <a:ea typeface="Calibri" pitchFamily="34" charset="-122"/>
                <a:cs typeface="Calibri" pitchFamily="34" charset="-120"/>
              </a:rPr>
              <a:t>The reasoning is rarely recorded in one place for audit.</a:t>
            </a:r>
            <a:endParaRPr lang="en-US" sz="1100" dirty="0"/>
          </a:p>
        </p:txBody>
      </p:sp>
      <p:sp>
        <p:nvSpPr>
          <p:cNvPr id="36" name="Text 34"/>
          <p:cNvSpPr txBox="1"/>
          <p:nvPr/>
        </p:nvSpPr>
        <p:spPr>
          <a:xfrm>
            <a:off x="457200" y="4224528"/>
            <a:ext cx="8229600" cy="365760"/>
          </a:xfrm>
          <a:prstGeom prst="rect">
            <a:avLst/>
          </a:prstGeom>
          <a:noFill/>
          <a:ln/>
        </p:spPr>
        <p:txBody>
          <a:bodyPr wrap="square" lIns="0" tIns="0" rIns="0" bIns="0" rtlCol="0" anchor="t"/>
          <a:lstStyle/>
          <a:p>
            <a:pPr indent="0" marL="0">
              <a:buNone/>
            </a:pPr>
            <a:r>
              <a:rPr lang="en-US" sz="1000" i="1" dirty="0">
                <a:solidFill>
                  <a:srgbClr val="5B6670"/>
                </a:solidFill>
                <a:latin typeface="Calibri" pitchFamily="34" charset="0"/>
                <a:ea typeface="Calibri" pitchFamily="34" charset="-122"/>
                <a:cs typeface="Calibri" pitchFamily="34" charset="-120"/>
              </a:rPr>
              <a:t>Typical manual process, described from general domain knowledge. We did not run a time study, so this deck makes no time-saved claim.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CLAIMFLOW AI</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Agents prepare the file. A person decides.</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457200" y="1371600"/>
            <a:ext cx="3931920" cy="2880360"/>
          </a:xfrm>
          <a:prstGeom prst="roundRect">
            <a:avLst>
              <a:gd name="adj" fmla="val 2222"/>
            </a:avLst>
          </a:prstGeom>
          <a:solidFill>
            <a:srgbClr val="FFFFFF"/>
          </a:solidFill>
          <a:ln w="12700">
            <a:solidFill>
              <a:srgbClr val="C9D1D6"/>
            </a:solidFill>
            <a:prstDash val="solid"/>
          </a:ln>
        </p:spPr>
      </p:sp>
      <p:sp>
        <p:nvSpPr>
          <p:cNvPr id="7" name="Text 5"/>
          <p:cNvSpPr txBox="1"/>
          <p:nvPr/>
        </p:nvSpPr>
        <p:spPr>
          <a:xfrm>
            <a:off x="640080" y="1490472"/>
            <a:ext cx="3566160" cy="274320"/>
          </a:xfrm>
          <a:prstGeom prst="rect">
            <a:avLst/>
          </a:prstGeom>
          <a:noFill/>
          <a:ln/>
        </p:spPr>
        <p:txBody>
          <a:bodyPr wrap="square" lIns="0" tIns="0" rIns="0" bIns="0" rtlCol="0" anchor="t"/>
          <a:lstStyle/>
          <a:p>
            <a:pPr indent="0" marL="0">
              <a:buNone/>
            </a:pPr>
            <a:r>
              <a:rPr lang="en-US" sz="1400" b="1" dirty="0">
                <a:solidFill>
                  <a:srgbClr val="1D5C73"/>
                </a:solidFill>
                <a:latin typeface="Calibri" pitchFamily="34" charset="0"/>
                <a:ea typeface="Calibri" pitchFamily="34" charset="-122"/>
                <a:cs typeface="Calibri" pitchFamily="34" charset="-120"/>
              </a:rPr>
              <a:t>What the agents produce</a:t>
            </a:r>
            <a:endParaRPr lang="en-US" sz="1400" dirty="0"/>
          </a:p>
        </p:txBody>
      </p:sp>
      <p:sp>
        <p:nvSpPr>
          <p:cNvPr id="8" name="Text 6"/>
          <p:cNvSpPr txBox="1"/>
          <p:nvPr/>
        </p:nvSpPr>
        <p:spPr>
          <a:xfrm>
            <a:off x="640080" y="1828800"/>
            <a:ext cx="3611880" cy="23774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7212B"/>
                </a:solidFill>
                <a:latin typeface="Calibri" pitchFamily="34" charset="0"/>
                <a:ea typeface="Calibri" pitchFamily="34" charset="-122"/>
                <a:cs typeface="Calibri" pitchFamily="34" charset="-120"/>
              </a:rPr>
              <a:t>Structured claim facts from the documents</a:t>
            </a:r>
            <a:endParaRPr lang="en-US" sz="1250" dirty="0"/>
          </a:p>
          <a:p>
            <a:pPr marL="177800" indent="-177800">
              <a:spcAft>
                <a:spcPts val="500"/>
              </a:spcAft>
              <a:buSzPct val="100000"/>
              <a:buChar char="•"/>
            </a:pPr>
            <a:r>
              <a:rPr lang="en-US" sz="1250" dirty="0">
                <a:solidFill>
                  <a:srgbClr val="17212B"/>
                </a:solidFill>
                <a:latin typeface="Calibri" pitchFamily="34" charset="0"/>
                <a:ea typeface="Calibri" pitchFamily="34" charset="-122"/>
                <a:cs typeface="Calibri" pitchFamily="34" charset="-120"/>
              </a:rPr>
              <a:t>Policy findings with page citations</a:t>
            </a:r>
            <a:endParaRPr lang="en-US" sz="1250" dirty="0"/>
          </a:p>
          <a:p>
            <a:pPr marL="177800" indent="-177800">
              <a:spcAft>
                <a:spcPts val="500"/>
              </a:spcAft>
              <a:buSzPct val="100000"/>
              <a:buChar char="•"/>
            </a:pPr>
            <a:r>
              <a:rPr lang="en-US" sz="1250" dirty="0">
                <a:solidFill>
                  <a:srgbClr val="17212B"/>
                </a:solidFill>
                <a:latin typeface="Calibri" pitchFamily="34" charset="0"/>
                <a:ea typeface="Calibri" pitchFamily="34" charset="-122"/>
                <a:cs typeface="Calibri" pitchFamily="34" charset="-120"/>
              </a:rPr>
              <a:t>An evidence checklist and consistency checks</a:t>
            </a:r>
            <a:endParaRPr lang="en-US" sz="1250" dirty="0"/>
          </a:p>
          <a:p>
            <a:pPr marL="177800" indent="-177800">
              <a:spcAft>
                <a:spcPts val="500"/>
              </a:spcAft>
              <a:buSzPct val="100000"/>
              <a:buChar char="•"/>
            </a:pPr>
            <a:r>
              <a:rPr lang="en-US" sz="1250" dirty="0">
                <a:solidFill>
                  <a:srgbClr val="17212B"/>
                </a:solidFill>
                <a:latin typeface="Calibri" pitchFamily="34" charset="0"/>
                <a:ea typeface="Calibri" pitchFamily="34" charset="-122"/>
                <a:cs typeface="Calibri" pitchFamily="34" charset="-120"/>
              </a:rPr>
              <a:t>Risk indicators, never judgements of honesty</a:t>
            </a:r>
            <a:endParaRPr lang="en-US" sz="1250" dirty="0"/>
          </a:p>
          <a:p>
            <a:pPr marL="177800" indent="-177800">
              <a:spcAft>
                <a:spcPts val="500"/>
              </a:spcAft>
              <a:buSzPct val="100000"/>
              <a:buChar char="•"/>
            </a:pPr>
            <a:r>
              <a:rPr lang="en-US" sz="1250" dirty="0">
                <a:solidFill>
                  <a:srgbClr val="17212B"/>
                </a:solidFill>
                <a:latin typeface="Calibri" pitchFamily="34" charset="0"/>
                <a:ea typeface="Calibri" pitchFamily="34" charset="-122"/>
                <a:cs typeface="Calibri" pitchFamily="34" charset="-120"/>
              </a:rPr>
              <a:t>A potential amount with its working</a:t>
            </a:r>
            <a:endParaRPr lang="en-US" sz="1250" dirty="0"/>
          </a:p>
          <a:p>
            <a:pPr marL="177800" indent="-177800">
              <a:spcAft>
                <a:spcPts val="500"/>
              </a:spcAft>
              <a:buSzPct val="100000"/>
              <a:buChar char="•"/>
            </a:pPr>
            <a:r>
              <a:rPr lang="en-US" sz="1250" dirty="0">
                <a:solidFill>
                  <a:srgbClr val="17212B"/>
                </a:solidFill>
                <a:latin typeface="Calibri" pitchFamily="34" charset="0"/>
                <a:ea typeface="Calibri" pitchFamily="34" charset="-122"/>
                <a:cs typeface="Calibri" pitchFamily="34" charset="-120"/>
              </a:rPr>
              <a:t>A recommendation with an explanation</a:t>
            </a:r>
            <a:endParaRPr lang="en-US" sz="1250" dirty="0"/>
          </a:p>
          <a:p>
            <a:pPr marL="177800" indent="-177800">
              <a:spcAft>
                <a:spcPts val="500"/>
              </a:spcAft>
              <a:buSzPct val="100000"/>
              <a:buChar char="•"/>
            </a:pPr>
            <a:r>
              <a:rPr lang="en-US" sz="1250" dirty="0">
                <a:solidFill>
                  <a:srgbClr val="17212B"/>
                </a:solidFill>
                <a:latin typeface="Calibri" pitchFamily="34" charset="0"/>
                <a:ea typeface="Calibri" pitchFamily="34" charset="-122"/>
                <a:cs typeface="Calibri" pitchFamily="34" charset="-120"/>
              </a:rPr>
              <a:t>A claim package PDF with an audit trail</a:t>
            </a:r>
            <a:endParaRPr lang="en-US" sz="1250" dirty="0"/>
          </a:p>
        </p:txBody>
      </p:sp>
      <p:sp>
        <p:nvSpPr>
          <p:cNvPr id="9" name="Shape 7"/>
          <p:cNvSpPr/>
          <p:nvPr/>
        </p:nvSpPr>
        <p:spPr>
          <a:xfrm>
            <a:off x="4617720" y="1371600"/>
            <a:ext cx="4069080" cy="896112"/>
          </a:xfrm>
          <a:prstGeom prst="roundRect">
            <a:avLst>
              <a:gd name="adj" fmla="val 7143"/>
            </a:avLst>
          </a:prstGeom>
          <a:solidFill>
            <a:srgbClr val="E1EEF3"/>
          </a:solidFill>
          <a:ln w="12700">
            <a:solidFill>
              <a:srgbClr val="B7D3DE"/>
            </a:solidFill>
            <a:prstDash val="solid"/>
          </a:ln>
        </p:spPr>
      </p:sp>
      <p:sp>
        <p:nvSpPr>
          <p:cNvPr id="10" name="Text 8"/>
          <p:cNvSpPr txBox="1"/>
          <p:nvPr/>
        </p:nvSpPr>
        <p:spPr>
          <a:xfrm>
            <a:off x="4800600" y="1481328"/>
            <a:ext cx="3749040" cy="274320"/>
          </a:xfrm>
          <a:prstGeom prst="rect">
            <a:avLst/>
          </a:prstGeom>
          <a:noFill/>
          <a:ln/>
        </p:spPr>
        <p:txBody>
          <a:bodyPr wrap="square" lIns="0" tIns="0" rIns="0" bIns="0" rtlCol="0" anchor="t"/>
          <a:lstStyle/>
          <a:p>
            <a:pPr indent="0" marL="0">
              <a:buNone/>
            </a:pPr>
            <a:r>
              <a:rPr lang="en-US" sz="1400" b="1" dirty="0">
                <a:solidFill>
                  <a:srgbClr val="17212B"/>
                </a:solidFill>
                <a:latin typeface="Calibri" pitchFamily="34" charset="0"/>
                <a:ea typeface="Calibri" pitchFamily="34" charset="-122"/>
                <a:cs typeface="Calibri" pitchFamily="34" charset="-120"/>
              </a:rPr>
              <a:t>Models propose, code verifies</a:t>
            </a:r>
            <a:endParaRPr lang="en-US" sz="1400" dirty="0"/>
          </a:p>
        </p:txBody>
      </p:sp>
      <p:sp>
        <p:nvSpPr>
          <p:cNvPr id="11" name="Text 9"/>
          <p:cNvSpPr txBox="1"/>
          <p:nvPr/>
        </p:nvSpPr>
        <p:spPr>
          <a:xfrm>
            <a:off x="4800600" y="1792224"/>
            <a:ext cx="3749040" cy="411480"/>
          </a:xfrm>
          <a:prstGeom prst="rect">
            <a:avLst/>
          </a:prstGeom>
          <a:noFill/>
          <a:ln/>
        </p:spPr>
        <p:txBody>
          <a:bodyPr wrap="square" lIns="0" tIns="0" rIns="0" bIns="0" rtlCol="0" anchor="t"/>
          <a:lstStyle/>
          <a:p>
            <a:pPr indent="0" marL="0">
              <a:buNone/>
            </a:pPr>
            <a:r>
              <a:rPr lang="en-US" sz="1100" dirty="0">
                <a:solidFill>
                  <a:srgbClr val="5B6670"/>
                </a:solidFill>
                <a:latin typeface="Calibri" pitchFamily="34" charset="0"/>
                <a:ea typeface="Calibri" pitchFamily="34" charset="-122"/>
                <a:cs typeface="Calibri" pitchFamily="34" charset="-120"/>
              </a:rPr>
              <a:t>Every quote, date and figure a model gives is checked against the source text.</a:t>
            </a:r>
            <a:endParaRPr lang="en-US" sz="1100" dirty="0"/>
          </a:p>
        </p:txBody>
      </p:sp>
      <p:sp>
        <p:nvSpPr>
          <p:cNvPr id="12" name="Shape 10"/>
          <p:cNvSpPr/>
          <p:nvPr/>
        </p:nvSpPr>
        <p:spPr>
          <a:xfrm>
            <a:off x="4617720" y="2359152"/>
            <a:ext cx="4069080" cy="896112"/>
          </a:xfrm>
          <a:prstGeom prst="roundRect">
            <a:avLst>
              <a:gd name="adj" fmla="val 7143"/>
            </a:avLst>
          </a:prstGeom>
          <a:solidFill>
            <a:srgbClr val="E1EEF3"/>
          </a:solidFill>
          <a:ln w="12700">
            <a:solidFill>
              <a:srgbClr val="B7D3DE"/>
            </a:solidFill>
            <a:prstDash val="solid"/>
          </a:ln>
        </p:spPr>
      </p:sp>
      <p:sp>
        <p:nvSpPr>
          <p:cNvPr id="13" name="Text 11"/>
          <p:cNvSpPr txBox="1"/>
          <p:nvPr/>
        </p:nvSpPr>
        <p:spPr>
          <a:xfrm>
            <a:off x="4800600" y="2468880"/>
            <a:ext cx="3749040" cy="274320"/>
          </a:xfrm>
          <a:prstGeom prst="rect">
            <a:avLst/>
          </a:prstGeom>
          <a:noFill/>
          <a:ln/>
        </p:spPr>
        <p:txBody>
          <a:bodyPr wrap="square" lIns="0" tIns="0" rIns="0" bIns="0" rtlCol="0" anchor="t"/>
          <a:lstStyle/>
          <a:p>
            <a:pPr indent="0" marL="0">
              <a:buNone/>
            </a:pPr>
            <a:r>
              <a:rPr lang="en-US" sz="1400" b="1" dirty="0">
                <a:solidFill>
                  <a:srgbClr val="17212B"/>
                </a:solidFill>
                <a:latin typeface="Calibri" pitchFamily="34" charset="0"/>
                <a:ea typeface="Calibri" pitchFamily="34" charset="-122"/>
                <a:cs typeface="Calibri" pitchFamily="34" charset="-120"/>
              </a:rPr>
              <a:t>Money comes from code</a:t>
            </a:r>
            <a:endParaRPr lang="en-US" sz="1400" dirty="0"/>
          </a:p>
        </p:txBody>
      </p:sp>
      <p:sp>
        <p:nvSpPr>
          <p:cNvPr id="14" name="Text 12"/>
          <p:cNvSpPr txBox="1"/>
          <p:nvPr/>
        </p:nvSpPr>
        <p:spPr>
          <a:xfrm>
            <a:off x="4800600" y="2779776"/>
            <a:ext cx="3749040" cy="411480"/>
          </a:xfrm>
          <a:prstGeom prst="rect">
            <a:avLst/>
          </a:prstGeom>
          <a:noFill/>
          <a:ln/>
        </p:spPr>
        <p:txBody>
          <a:bodyPr wrap="square" lIns="0" tIns="0" rIns="0" bIns="0" rtlCol="0" anchor="t"/>
          <a:lstStyle/>
          <a:p>
            <a:pPr indent="0" marL="0">
              <a:buNone/>
            </a:pPr>
            <a:r>
              <a:rPr lang="en-US" sz="1100" dirty="0">
                <a:solidFill>
                  <a:srgbClr val="5B6670"/>
                </a:solidFill>
                <a:latin typeface="Calibri" pitchFamily="34" charset="0"/>
                <a:ea typeface="Calibri" pitchFamily="34" charset="-122"/>
                <a:cs typeface="Calibri" pitchFamily="34" charset="-120"/>
              </a:rPr>
              <a:t>The amount is a fixed formula in Decimal. A model never calculates it.</a:t>
            </a:r>
            <a:endParaRPr lang="en-US" sz="1100" dirty="0"/>
          </a:p>
        </p:txBody>
      </p:sp>
      <p:sp>
        <p:nvSpPr>
          <p:cNvPr id="15" name="Shape 13"/>
          <p:cNvSpPr/>
          <p:nvPr/>
        </p:nvSpPr>
        <p:spPr>
          <a:xfrm>
            <a:off x="4617720" y="3346704"/>
            <a:ext cx="4069080" cy="896112"/>
          </a:xfrm>
          <a:prstGeom prst="roundRect">
            <a:avLst>
              <a:gd name="adj" fmla="val 7143"/>
            </a:avLst>
          </a:prstGeom>
          <a:solidFill>
            <a:srgbClr val="E1EEF3"/>
          </a:solidFill>
          <a:ln w="12700">
            <a:solidFill>
              <a:srgbClr val="B7D3DE"/>
            </a:solidFill>
            <a:prstDash val="solid"/>
          </a:ln>
        </p:spPr>
      </p:sp>
      <p:sp>
        <p:nvSpPr>
          <p:cNvPr id="16" name="Text 14"/>
          <p:cNvSpPr txBox="1"/>
          <p:nvPr/>
        </p:nvSpPr>
        <p:spPr>
          <a:xfrm>
            <a:off x="4800600" y="3456432"/>
            <a:ext cx="3749040" cy="274320"/>
          </a:xfrm>
          <a:prstGeom prst="rect">
            <a:avLst/>
          </a:prstGeom>
          <a:noFill/>
          <a:ln/>
        </p:spPr>
        <p:txBody>
          <a:bodyPr wrap="square" lIns="0" tIns="0" rIns="0" bIns="0" rtlCol="0" anchor="t"/>
          <a:lstStyle/>
          <a:p>
            <a:pPr indent="0" marL="0">
              <a:buNone/>
            </a:pPr>
            <a:r>
              <a:rPr lang="en-US" sz="1400" b="1" dirty="0">
                <a:solidFill>
                  <a:srgbClr val="17212B"/>
                </a:solidFill>
                <a:latin typeface="Calibri" pitchFamily="34" charset="0"/>
                <a:ea typeface="Calibri" pitchFamily="34" charset="-122"/>
                <a:cs typeface="Calibri" pitchFamily="34" charset="-120"/>
              </a:rPr>
              <a:t>Cite it or say not found</a:t>
            </a:r>
            <a:endParaRPr lang="en-US" sz="1400" dirty="0"/>
          </a:p>
        </p:txBody>
      </p:sp>
      <p:sp>
        <p:nvSpPr>
          <p:cNvPr id="17" name="Text 15"/>
          <p:cNvSpPr txBox="1"/>
          <p:nvPr/>
        </p:nvSpPr>
        <p:spPr>
          <a:xfrm>
            <a:off x="4800600" y="3767328"/>
            <a:ext cx="3749040" cy="411480"/>
          </a:xfrm>
          <a:prstGeom prst="rect">
            <a:avLst/>
          </a:prstGeom>
          <a:noFill/>
          <a:ln/>
        </p:spPr>
        <p:txBody>
          <a:bodyPr wrap="square" lIns="0" tIns="0" rIns="0" bIns="0" rtlCol="0" anchor="t"/>
          <a:lstStyle/>
          <a:p>
            <a:pPr indent="0" marL="0">
              <a:buNone/>
            </a:pPr>
            <a:r>
              <a:rPr lang="en-US" sz="1100" dirty="0">
                <a:solidFill>
                  <a:srgbClr val="5B6670"/>
                </a:solidFill>
                <a:latin typeface="Calibri" pitchFamily="34" charset="0"/>
                <a:ea typeface="Calibri" pitchFamily="34" charset="-122"/>
                <a:cs typeface="Calibri" pitchFamily="34" charset="-120"/>
              </a:rPr>
              <a:t>A policy statement needs a quote found word for word on the cited page.</a:t>
            </a:r>
            <a:endParaRPr lang="en-US" sz="1100" dirty="0"/>
          </a:p>
        </p:txBody>
      </p:sp>
      <p:sp>
        <p:nvSpPr>
          <p:cNvPr id="18" name="Text 16"/>
          <p:cNvSpPr txBox="1"/>
          <p:nvPr/>
        </p:nvSpPr>
        <p:spPr>
          <a:xfrm>
            <a:off x="457200" y="4407408"/>
            <a:ext cx="8229600" cy="365760"/>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Two modes: Live AI uses Gemini, Groq or OpenRouter. Demo Mode runs the whole workflow offline with a scripted model, and is labelled as such.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MULTI-AGENT ARCHITECTURE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Seven agents, one shared claim state</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457200" y="1170432"/>
            <a:ext cx="8229600" cy="347472"/>
          </a:xfrm>
          <a:prstGeom prst="roundRect">
            <a:avLst>
              <a:gd name="adj" fmla="val 18421"/>
            </a:avLst>
          </a:prstGeom>
          <a:solidFill>
            <a:srgbClr val="1D5C73"/>
          </a:solidFill>
          <a:ln w="12700">
            <a:solidFill>
              <a:srgbClr val="1D5C73"/>
            </a:solidFill>
            <a:prstDash val="solid"/>
          </a:ln>
        </p:spPr>
      </p:sp>
      <p:sp>
        <p:nvSpPr>
          <p:cNvPr id="7" name="Text 5"/>
          <p:cNvSpPr txBox="1"/>
          <p:nvPr/>
        </p:nvSpPr>
        <p:spPr>
          <a:xfrm>
            <a:off x="457200" y="1170432"/>
            <a:ext cx="82296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Workflow orchestrator: runs steps in order, skips what cannot run, contains failures, saves every run</a:t>
            </a:r>
            <a:endParaRPr lang="en-US" sz="1150" dirty="0"/>
          </a:p>
        </p:txBody>
      </p:sp>
      <p:sp>
        <p:nvSpPr>
          <p:cNvPr id="8" name="Text 6"/>
          <p:cNvSpPr txBox="1"/>
          <p:nvPr/>
        </p:nvSpPr>
        <p:spPr>
          <a:xfrm>
            <a:off x="457200" y="1581912"/>
            <a:ext cx="2194560" cy="182880"/>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Independent steps</a:t>
            </a:r>
            <a:endParaRPr lang="en-US" sz="950" dirty="0"/>
          </a:p>
        </p:txBody>
      </p:sp>
      <p:sp>
        <p:nvSpPr>
          <p:cNvPr id="9" name="Text 7"/>
          <p:cNvSpPr txBox="1"/>
          <p:nvPr/>
        </p:nvSpPr>
        <p:spPr>
          <a:xfrm>
            <a:off x="2971800" y="1581912"/>
            <a:ext cx="2194560" cy="182880"/>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Need intake</a:t>
            </a:r>
            <a:endParaRPr lang="en-US" sz="950" dirty="0"/>
          </a:p>
        </p:txBody>
      </p:sp>
      <p:sp>
        <p:nvSpPr>
          <p:cNvPr id="10" name="Text 8"/>
          <p:cNvSpPr txBox="1"/>
          <p:nvPr/>
        </p:nvSpPr>
        <p:spPr>
          <a:xfrm>
            <a:off x="5486400" y="1581912"/>
            <a:ext cx="1600200" cy="182880"/>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Needs all four</a:t>
            </a:r>
            <a:endParaRPr lang="en-US" sz="950" dirty="0"/>
          </a:p>
        </p:txBody>
      </p:sp>
      <p:sp>
        <p:nvSpPr>
          <p:cNvPr id="11" name="Shape 9"/>
          <p:cNvSpPr/>
          <p:nvPr/>
        </p:nvSpPr>
        <p:spPr>
          <a:xfrm>
            <a:off x="457200" y="1810512"/>
            <a:ext cx="2194560" cy="640080"/>
          </a:xfrm>
          <a:prstGeom prst="roundRect">
            <a:avLst>
              <a:gd name="adj" fmla="val 10000"/>
            </a:avLst>
          </a:prstGeom>
          <a:solidFill>
            <a:srgbClr val="E1EEF3"/>
          </a:solidFill>
          <a:ln w="15875">
            <a:solidFill>
              <a:srgbClr val="1D5C73"/>
            </a:solidFill>
            <a:prstDash val="solid"/>
          </a:ln>
        </p:spPr>
      </p:sp>
      <p:sp>
        <p:nvSpPr>
          <p:cNvPr id="12" name="Text 10"/>
          <p:cNvSpPr txBox="1"/>
          <p:nvPr/>
        </p:nvSpPr>
        <p:spPr>
          <a:xfrm>
            <a:off x="566928" y="1892808"/>
            <a:ext cx="2011680" cy="228600"/>
          </a:xfrm>
          <a:prstGeom prst="rect">
            <a:avLst/>
          </a:prstGeom>
          <a:noFill/>
          <a:ln/>
        </p:spPr>
        <p:txBody>
          <a:bodyPr wrap="square" lIns="0" tIns="0" rIns="0" bIns="0" rtlCol="0" anchor="t"/>
          <a:lstStyle/>
          <a:p>
            <a:pPr indent="0" marL="0">
              <a:buNone/>
            </a:pPr>
            <a:r>
              <a:rPr lang="en-US" sz="1200" b="1" dirty="0">
                <a:solidFill>
                  <a:srgbClr val="17212B"/>
                </a:solidFill>
                <a:latin typeface="Calibri" pitchFamily="34" charset="0"/>
                <a:ea typeface="Calibri" pitchFamily="34" charset="-122"/>
                <a:cs typeface="Calibri" pitchFamily="34" charset="-120"/>
              </a:rPr>
              <a:t>1  Claim intake</a:t>
            </a:r>
            <a:endParaRPr lang="en-US" sz="1200" dirty="0"/>
          </a:p>
        </p:txBody>
      </p:sp>
      <p:sp>
        <p:nvSpPr>
          <p:cNvPr id="13" name="Text 11"/>
          <p:cNvSpPr txBox="1"/>
          <p:nvPr/>
        </p:nvSpPr>
        <p:spPr>
          <a:xfrm>
            <a:off x="566928" y="2139696"/>
            <a:ext cx="2011680" cy="292608"/>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model proposes, code verifies</a:t>
            </a:r>
            <a:endParaRPr lang="en-US" sz="950" dirty="0"/>
          </a:p>
        </p:txBody>
      </p:sp>
      <p:sp>
        <p:nvSpPr>
          <p:cNvPr id="14" name="Shape 12"/>
          <p:cNvSpPr/>
          <p:nvPr/>
        </p:nvSpPr>
        <p:spPr>
          <a:xfrm>
            <a:off x="457200" y="2542032"/>
            <a:ext cx="2194560" cy="640080"/>
          </a:xfrm>
          <a:prstGeom prst="roundRect">
            <a:avLst>
              <a:gd name="adj" fmla="val 10000"/>
            </a:avLst>
          </a:prstGeom>
          <a:solidFill>
            <a:srgbClr val="E1EEF3"/>
          </a:solidFill>
          <a:ln w="15875">
            <a:solidFill>
              <a:srgbClr val="1D5C73"/>
            </a:solidFill>
            <a:prstDash val="solid"/>
          </a:ln>
        </p:spPr>
      </p:sp>
      <p:sp>
        <p:nvSpPr>
          <p:cNvPr id="15" name="Text 13"/>
          <p:cNvSpPr txBox="1"/>
          <p:nvPr/>
        </p:nvSpPr>
        <p:spPr>
          <a:xfrm>
            <a:off x="566928" y="2624328"/>
            <a:ext cx="2011680" cy="228600"/>
          </a:xfrm>
          <a:prstGeom prst="rect">
            <a:avLst/>
          </a:prstGeom>
          <a:noFill/>
          <a:ln/>
        </p:spPr>
        <p:txBody>
          <a:bodyPr wrap="square" lIns="0" tIns="0" rIns="0" bIns="0" rtlCol="0" anchor="t"/>
          <a:lstStyle/>
          <a:p>
            <a:pPr indent="0" marL="0">
              <a:buNone/>
            </a:pPr>
            <a:r>
              <a:rPr lang="en-US" sz="1200" b="1" dirty="0">
                <a:solidFill>
                  <a:srgbClr val="17212B"/>
                </a:solidFill>
                <a:latin typeface="Calibri" pitchFamily="34" charset="0"/>
                <a:ea typeface="Calibri" pitchFamily="34" charset="-122"/>
                <a:cs typeface="Calibri" pitchFamily="34" charset="-120"/>
              </a:rPr>
              <a:t>2  Policy analyst</a:t>
            </a:r>
            <a:endParaRPr lang="en-US" sz="1200" dirty="0"/>
          </a:p>
        </p:txBody>
      </p:sp>
      <p:sp>
        <p:nvSpPr>
          <p:cNvPr id="16" name="Text 14"/>
          <p:cNvSpPr txBox="1"/>
          <p:nvPr/>
        </p:nvSpPr>
        <p:spPr>
          <a:xfrm>
            <a:off x="566928" y="2871216"/>
            <a:ext cx="2011680" cy="292608"/>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RAG, every quote checked</a:t>
            </a:r>
            <a:endParaRPr lang="en-US" sz="950" dirty="0"/>
          </a:p>
        </p:txBody>
      </p:sp>
      <p:sp>
        <p:nvSpPr>
          <p:cNvPr id="17" name="Shape 15"/>
          <p:cNvSpPr/>
          <p:nvPr/>
        </p:nvSpPr>
        <p:spPr>
          <a:xfrm>
            <a:off x="457200" y="3273552"/>
            <a:ext cx="2194560" cy="640080"/>
          </a:xfrm>
          <a:prstGeom prst="roundRect">
            <a:avLst>
              <a:gd name="adj" fmla="val 10000"/>
            </a:avLst>
          </a:prstGeom>
          <a:solidFill>
            <a:srgbClr val="FBF0D9"/>
          </a:solidFill>
          <a:ln w="15875">
            <a:solidFill>
              <a:srgbClr val="1D5C73"/>
            </a:solidFill>
            <a:prstDash val="solid"/>
          </a:ln>
        </p:spPr>
      </p:sp>
      <p:sp>
        <p:nvSpPr>
          <p:cNvPr id="18" name="Text 16"/>
          <p:cNvSpPr txBox="1"/>
          <p:nvPr/>
        </p:nvSpPr>
        <p:spPr>
          <a:xfrm>
            <a:off x="566928" y="3355848"/>
            <a:ext cx="2011680" cy="228600"/>
          </a:xfrm>
          <a:prstGeom prst="rect">
            <a:avLst/>
          </a:prstGeom>
          <a:noFill/>
          <a:ln/>
        </p:spPr>
        <p:txBody>
          <a:bodyPr wrap="square" lIns="0" tIns="0" rIns="0" bIns="0" rtlCol="0" anchor="t"/>
          <a:lstStyle/>
          <a:p>
            <a:pPr indent="0" marL="0">
              <a:buNone/>
            </a:pPr>
            <a:r>
              <a:rPr lang="en-US" sz="1200" b="1" dirty="0">
                <a:solidFill>
                  <a:srgbClr val="17212B"/>
                </a:solidFill>
                <a:latin typeface="Calibri" pitchFamily="34" charset="0"/>
                <a:ea typeface="Calibri" pitchFamily="34" charset="-122"/>
                <a:cs typeface="Calibri" pitchFamily="34" charset="-120"/>
              </a:rPr>
              <a:t>3  Damage analysis</a:t>
            </a:r>
            <a:endParaRPr lang="en-US" sz="1200" dirty="0"/>
          </a:p>
        </p:txBody>
      </p:sp>
      <p:sp>
        <p:nvSpPr>
          <p:cNvPr id="19" name="Text 17"/>
          <p:cNvSpPr txBox="1"/>
          <p:nvPr/>
        </p:nvSpPr>
        <p:spPr>
          <a:xfrm>
            <a:off x="566928" y="3602736"/>
            <a:ext cx="2011680" cy="292608"/>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vision; limited demo in Demo Mode</a:t>
            </a:r>
            <a:endParaRPr lang="en-US" sz="950" dirty="0"/>
          </a:p>
        </p:txBody>
      </p:sp>
      <p:sp>
        <p:nvSpPr>
          <p:cNvPr id="20" name="Shape 18"/>
          <p:cNvSpPr/>
          <p:nvPr/>
        </p:nvSpPr>
        <p:spPr>
          <a:xfrm>
            <a:off x="2971800" y="1810512"/>
            <a:ext cx="2194560" cy="640080"/>
          </a:xfrm>
          <a:prstGeom prst="roundRect">
            <a:avLst>
              <a:gd name="adj" fmla="val 10000"/>
            </a:avLst>
          </a:prstGeom>
          <a:solidFill>
            <a:srgbClr val="E4F2EA"/>
          </a:solidFill>
          <a:ln w="15875">
            <a:solidFill>
              <a:srgbClr val="1D5C73"/>
            </a:solidFill>
            <a:prstDash val="solid"/>
          </a:ln>
        </p:spPr>
      </p:sp>
      <p:sp>
        <p:nvSpPr>
          <p:cNvPr id="21" name="Text 19"/>
          <p:cNvSpPr txBox="1"/>
          <p:nvPr/>
        </p:nvSpPr>
        <p:spPr>
          <a:xfrm>
            <a:off x="3081528" y="1892808"/>
            <a:ext cx="2011680" cy="228600"/>
          </a:xfrm>
          <a:prstGeom prst="rect">
            <a:avLst/>
          </a:prstGeom>
          <a:noFill/>
          <a:ln/>
        </p:spPr>
        <p:txBody>
          <a:bodyPr wrap="square" lIns="0" tIns="0" rIns="0" bIns="0" rtlCol="0" anchor="t"/>
          <a:lstStyle/>
          <a:p>
            <a:pPr indent="0" marL="0">
              <a:buNone/>
            </a:pPr>
            <a:r>
              <a:rPr lang="en-US" sz="1200" b="1" dirty="0">
                <a:solidFill>
                  <a:srgbClr val="17212B"/>
                </a:solidFill>
                <a:latin typeface="Calibri" pitchFamily="34" charset="0"/>
                <a:ea typeface="Calibri" pitchFamily="34" charset="-122"/>
                <a:cs typeface="Calibri" pitchFamily="34" charset="-120"/>
              </a:rPr>
              <a:t>4  Evidence verification</a:t>
            </a:r>
            <a:endParaRPr lang="en-US" sz="1200" dirty="0"/>
          </a:p>
        </p:txBody>
      </p:sp>
      <p:sp>
        <p:nvSpPr>
          <p:cNvPr id="22" name="Text 20"/>
          <p:cNvSpPr txBox="1"/>
          <p:nvPr/>
        </p:nvSpPr>
        <p:spPr>
          <a:xfrm>
            <a:off x="3081528" y="2139696"/>
            <a:ext cx="2011680" cy="292608"/>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fixed rules, no model</a:t>
            </a:r>
            <a:endParaRPr lang="en-US" sz="950" dirty="0"/>
          </a:p>
        </p:txBody>
      </p:sp>
      <p:sp>
        <p:nvSpPr>
          <p:cNvPr id="23" name="Shape 21"/>
          <p:cNvSpPr/>
          <p:nvPr/>
        </p:nvSpPr>
        <p:spPr>
          <a:xfrm>
            <a:off x="2971800" y="2542032"/>
            <a:ext cx="2194560" cy="640080"/>
          </a:xfrm>
          <a:prstGeom prst="roundRect">
            <a:avLst>
              <a:gd name="adj" fmla="val 10000"/>
            </a:avLst>
          </a:prstGeom>
          <a:solidFill>
            <a:srgbClr val="E1EEF3"/>
          </a:solidFill>
          <a:ln w="15875">
            <a:solidFill>
              <a:srgbClr val="1D5C73"/>
            </a:solidFill>
            <a:prstDash val="solid"/>
          </a:ln>
        </p:spPr>
      </p:sp>
      <p:sp>
        <p:nvSpPr>
          <p:cNvPr id="24" name="Text 22"/>
          <p:cNvSpPr txBox="1"/>
          <p:nvPr/>
        </p:nvSpPr>
        <p:spPr>
          <a:xfrm>
            <a:off x="3081528" y="2624328"/>
            <a:ext cx="2011680" cy="228600"/>
          </a:xfrm>
          <a:prstGeom prst="rect">
            <a:avLst/>
          </a:prstGeom>
          <a:noFill/>
          <a:ln/>
        </p:spPr>
        <p:txBody>
          <a:bodyPr wrap="square" lIns="0" tIns="0" rIns="0" bIns="0" rtlCol="0" anchor="t"/>
          <a:lstStyle/>
          <a:p>
            <a:pPr indent="0" marL="0">
              <a:buNone/>
            </a:pPr>
            <a:r>
              <a:rPr lang="en-US" sz="1200" b="1" dirty="0">
                <a:solidFill>
                  <a:srgbClr val="17212B"/>
                </a:solidFill>
                <a:latin typeface="Calibri" pitchFamily="34" charset="0"/>
                <a:ea typeface="Calibri" pitchFamily="34" charset="-122"/>
                <a:cs typeface="Calibri" pitchFamily="34" charset="-120"/>
              </a:rPr>
              <a:t>5  Risk analysis</a:t>
            </a:r>
            <a:endParaRPr lang="en-US" sz="1200" dirty="0"/>
          </a:p>
        </p:txBody>
      </p:sp>
      <p:sp>
        <p:nvSpPr>
          <p:cNvPr id="25" name="Text 23"/>
          <p:cNvSpPr txBox="1"/>
          <p:nvPr/>
        </p:nvSpPr>
        <p:spPr>
          <a:xfrm>
            <a:off x="3081528" y="2871216"/>
            <a:ext cx="2011680" cy="292608"/>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fixed rules, never judges conduct</a:t>
            </a:r>
            <a:endParaRPr lang="en-US" sz="950" dirty="0"/>
          </a:p>
        </p:txBody>
      </p:sp>
      <p:sp>
        <p:nvSpPr>
          <p:cNvPr id="26" name="Shape 24"/>
          <p:cNvSpPr/>
          <p:nvPr/>
        </p:nvSpPr>
        <p:spPr>
          <a:xfrm>
            <a:off x="2971800" y="3273552"/>
            <a:ext cx="2194560" cy="640080"/>
          </a:xfrm>
          <a:prstGeom prst="roundRect">
            <a:avLst>
              <a:gd name="adj" fmla="val 10000"/>
            </a:avLst>
          </a:prstGeom>
          <a:solidFill>
            <a:srgbClr val="E4F2EA"/>
          </a:solidFill>
          <a:ln w="15875">
            <a:solidFill>
              <a:srgbClr val="1D5C73"/>
            </a:solidFill>
            <a:prstDash val="solid"/>
          </a:ln>
        </p:spPr>
      </p:sp>
      <p:sp>
        <p:nvSpPr>
          <p:cNvPr id="27" name="Text 25"/>
          <p:cNvSpPr txBox="1"/>
          <p:nvPr/>
        </p:nvSpPr>
        <p:spPr>
          <a:xfrm>
            <a:off x="3081528" y="3355848"/>
            <a:ext cx="2011680" cy="228600"/>
          </a:xfrm>
          <a:prstGeom prst="rect">
            <a:avLst/>
          </a:prstGeom>
          <a:noFill/>
          <a:ln/>
        </p:spPr>
        <p:txBody>
          <a:bodyPr wrap="square" lIns="0" tIns="0" rIns="0" bIns="0" rtlCol="0" anchor="t"/>
          <a:lstStyle/>
          <a:p>
            <a:pPr indent="0" marL="0">
              <a:buNone/>
            </a:pPr>
            <a:r>
              <a:rPr lang="en-US" sz="1200" b="1" dirty="0">
                <a:solidFill>
                  <a:srgbClr val="17212B"/>
                </a:solidFill>
                <a:latin typeface="Calibri" pitchFamily="34" charset="0"/>
                <a:ea typeface="Calibri" pitchFamily="34" charset="-122"/>
                <a:cs typeface="Calibri" pitchFamily="34" charset="-120"/>
              </a:rPr>
              <a:t>6  Claim assessment</a:t>
            </a:r>
            <a:endParaRPr lang="en-US" sz="1200" dirty="0"/>
          </a:p>
        </p:txBody>
      </p:sp>
      <p:sp>
        <p:nvSpPr>
          <p:cNvPr id="28" name="Text 26"/>
          <p:cNvSpPr txBox="1"/>
          <p:nvPr/>
        </p:nvSpPr>
        <p:spPr>
          <a:xfrm>
            <a:off x="3081528" y="3602736"/>
            <a:ext cx="2011680" cy="292608"/>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fixed formula, no model</a:t>
            </a:r>
            <a:endParaRPr lang="en-US" sz="950" dirty="0"/>
          </a:p>
        </p:txBody>
      </p:sp>
      <p:sp>
        <p:nvSpPr>
          <p:cNvPr id="29" name="Shape 27"/>
          <p:cNvSpPr/>
          <p:nvPr/>
        </p:nvSpPr>
        <p:spPr>
          <a:xfrm>
            <a:off x="5486400" y="1810512"/>
            <a:ext cx="1600200" cy="2103120"/>
          </a:xfrm>
          <a:prstGeom prst="roundRect">
            <a:avLst>
              <a:gd name="adj" fmla="val 4000"/>
            </a:avLst>
          </a:prstGeom>
          <a:solidFill>
            <a:srgbClr val="E1EEF3"/>
          </a:solidFill>
          <a:ln w="15875">
            <a:solidFill>
              <a:srgbClr val="1D5C73"/>
            </a:solidFill>
            <a:prstDash val="solid"/>
          </a:ln>
        </p:spPr>
      </p:sp>
      <p:sp>
        <p:nvSpPr>
          <p:cNvPr id="30" name="Text 28"/>
          <p:cNvSpPr txBox="1"/>
          <p:nvPr/>
        </p:nvSpPr>
        <p:spPr>
          <a:xfrm>
            <a:off x="5577840" y="1901952"/>
            <a:ext cx="1417320" cy="411480"/>
          </a:xfrm>
          <a:prstGeom prst="rect">
            <a:avLst/>
          </a:prstGeom>
          <a:noFill/>
          <a:ln/>
        </p:spPr>
        <p:txBody>
          <a:bodyPr wrap="square" lIns="0" tIns="0" rIns="0" bIns="0" rtlCol="0" anchor="t"/>
          <a:lstStyle/>
          <a:p>
            <a:pPr indent="0" marL="0">
              <a:buNone/>
            </a:pPr>
            <a:r>
              <a:rPr lang="en-US" sz="1200" b="1" dirty="0">
                <a:solidFill>
                  <a:srgbClr val="17212B"/>
                </a:solidFill>
                <a:latin typeface="Calibri" pitchFamily="34" charset="0"/>
                <a:ea typeface="Calibri" pitchFamily="34" charset="-122"/>
                <a:cs typeface="Calibri" pitchFamily="34" charset="-120"/>
              </a:rPr>
              <a:t>7  Compliance review</a:t>
            </a:r>
            <a:endParaRPr lang="en-US" sz="1200" dirty="0"/>
          </a:p>
        </p:txBody>
      </p:sp>
      <p:sp>
        <p:nvSpPr>
          <p:cNvPr id="31" name="Text 29"/>
          <p:cNvSpPr txBox="1"/>
          <p:nvPr/>
        </p:nvSpPr>
        <p:spPr>
          <a:xfrm>
            <a:off x="5577840" y="2377440"/>
            <a:ext cx="1417320" cy="146304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Fixed rules choose approve, request information or escalate. A model words the explanation and code checks it.</a:t>
            </a:r>
            <a:endParaRPr lang="en-US" sz="1000" dirty="0"/>
          </a:p>
        </p:txBody>
      </p:sp>
      <p:sp>
        <p:nvSpPr>
          <p:cNvPr id="32" name="Shape 30"/>
          <p:cNvSpPr/>
          <p:nvPr/>
        </p:nvSpPr>
        <p:spPr>
          <a:xfrm>
            <a:off x="7269480" y="2286000"/>
            <a:ext cx="1417320" cy="1188720"/>
          </a:xfrm>
          <a:prstGeom prst="roundRect">
            <a:avLst>
              <a:gd name="adj" fmla="val 5385"/>
            </a:avLst>
          </a:prstGeom>
          <a:solidFill>
            <a:srgbClr val="FBF0D9"/>
          </a:solidFill>
          <a:ln w="15875">
            <a:solidFill>
              <a:srgbClr val="B7791F"/>
            </a:solidFill>
            <a:prstDash val="solid"/>
          </a:ln>
        </p:spPr>
      </p:sp>
      <p:sp>
        <p:nvSpPr>
          <p:cNvPr id="33" name="Text 31"/>
          <p:cNvSpPr txBox="1"/>
          <p:nvPr/>
        </p:nvSpPr>
        <p:spPr>
          <a:xfrm>
            <a:off x="7360920" y="2377440"/>
            <a:ext cx="1280160" cy="228600"/>
          </a:xfrm>
          <a:prstGeom prst="rect">
            <a:avLst/>
          </a:prstGeom>
          <a:noFill/>
          <a:ln/>
        </p:spPr>
        <p:txBody>
          <a:bodyPr wrap="square" lIns="0" tIns="0" rIns="0" bIns="0" rtlCol="0" anchor="t"/>
          <a:lstStyle/>
          <a:p>
            <a:pPr indent="0" marL="0">
              <a:buNone/>
            </a:pPr>
            <a:r>
              <a:rPr lang="en-US" sz="1200" b="1" dirty="0">
                <a:solidFill>
                  <a:srgbClr val="17212B"/>
                </a:solidFill>
                <a:latin typeface="Calibri" pitchFamily="34" charset="0"/>
                <a:ea typeface="Calibri" pitchFamily="34" charset="-122"/>
                <a:cs typeface="Calibri" pitchFamily="34" charset="-120"/>
              </a:rPr>
              <a:t>Human review</a:t>
            </a:r>
            <a:endParaRPr lang="en-US" sz="1200" dirty="0"/>
          </a:p>
        </p:txBody>
      </p:sp>
      <p:sp>
        <p:nvSpPr>
          <p:cNvPr id="34" name="Text 32"/>
          <p:cNvSpPr txBox="1"/>
          <p:nvPr/>
        </p:nvSpPr>
        <p:spPr>
          <a:xfrm>
            <a:off x="7360920" y="2670048"/>
            <a:ext cx="1280160" cy="73152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A person decides. Then the package PDF.</a:t>
            </a:r>
            <a:endParaRPr lang="en-US" sz="1000" dirty="0"/>
          </a:p>
        </p:txBody>
      </p:sp>
      <p:sp>
        <p:nvSpPr>
          <p:cNvPr id="35" name="Shape 33"/>
          <p:cNvSpPr/>
          <p:nvPr/>
        </p:nvSpPr>
        <p:spPr>
          <a:xfrm>
            <a:off x="2706624" y="2862072"/>
            <a:ext cx="219456" cy="0"/>
          </a:xfrm>
          <a:prstGeom prst="line">
            <a:avLst/>
          </a:prstGeom>
          <a:noFill/>
          <a:ln w="28575">
            <a:solidFill>
              <a:srgbClr val="1D5C73"/>
            </a:solidFill>
            <a:prstDash val="solid"/>
            <a:tailEnd type="triangle"/>
          </a:ln>
        </p:spPr>
      </p:sp>
      <p:sp>
        <p:nvSpPr>
          <p:cNvPr id="36" name="Shape 34"/>
          <p:cNvSpPr/>
          <p:nvPr/>
        </p:nvSpPr>
        <p:spPr>
          <a:xfrm>
            <a:off x="5212080" y="2862072"/>
            <a:ext cx="228600" cy="0"/>
          </a:xfrm>
          <a:prstGeom prst="line">
            <a:avLst/>
          </a:prstGeom>
          <a:noFill/>
          <a:ln w="28575">
            <a:solidFill>
              <a:srgbClr val="1D5C73"/>
            </a:solidFill>
            <a:prstDash val="solid"/>
            <a:tailEnd type="triangle"/>
          </a:ln>
        </p:spPr>
      </p:sp>
      <p:sp>
        <p:nvSpPr>
          <p:cNvPr id="37" name="Shape 35"/>
          <p:cNvSpPr/>
          <p:nvPr/>
        </p:nvSpPr>
        <p:spPr>
          <a:xfrm>
            <a:off x="7132320" y="2880360"/>
            <a:ext cx="109728" cy="0"/>
          </a:xfrm>
          <a:prstGeom prst="line">
            <a:avLst/>
          </a:prstGeom>
          <a:noFill/>
          <a:ln w="28575">
            <a:solidFill>
              <a:srgbClr val="B7791F"/>
            </a:solidFill>
            <a:prstDash val="solid"/>
            <a:tailEnd type="triangle"/>
          </a:ln>
        </p:spPr>
      </p:sp>
      <p:sp>
        <p:nvSpPr>
          <p:cNvPr id="38" name="Shape 36"/>
          <p:cNvSpPr/>
          <p:nvPr/>
        </p:nvSpPr>
        <p:spPr>
          <a:xfrm>
            <a:off x="457200" y="4069080"/>
            <a:ext cx="8229600" cy="457200"/>
          </a:xfrm>
          <a:prstGeom prst="roundRect">
            <a:avLst>
              <a:gd name="adj" fmla="val 14000"/>
            </a:avLst>
          </a:prstGeom>
          <a:solidFill>
            <a:srgbClr val="FFFFFF"/>
          </a:solidFill>
          <a:ln w="15875">
            <a:solidFill>
              <a:srgbClr val="1D5C73"/>
            </a:solidFill>
            <a:prstDash val="solid"/>
          </a:ln>
        </p:spPr>
      </p:sp>
      <p:sp>
        <p:nvSpPr>
          <p:cNvPr id="39" name="Text 37"/>
          <p:cNvSpPr txBox="1"/>
          <p:nvPr/>
        </p:nvSpPr>
        <p:spPr>
          <a:xfrm>
            <a:off x="457200" y="4069080"/>
            <a:ext cx="8229600" cy="457200"/>
          </a:xfrm>
          <a:prstGeom prst="rect">
            <a:avLst/>
          </a:prstGeom>
          <a:noFill/>
          <a:ln/>
        </p:spPr>
        <p:txBody>
          <a:bodyPr wrap="square" lIns="0" tIns="0" rIns="0" bIns="0" rtlCol="0" anchor="ctr"/>
          <a:lstStyle/>
          <a:p>
            <a:pPr algn="ctr" indent="0" marL="0">
              <a:buNone/>
            </a:pPr>
            <a:r>
              <a:rPr lang="en-US" sz="1150" dirty="0">
                <a:solidFill>
                  <a:srgbClr val="17212B"/>
                </a:solidFill>
                <a:latin typeface="Calibri" pitchFamily="34" charset="0"/>
                <a:ea typeface="Calibri" pitchFamily="34" charset="-122"/>
                <a:cs typeface="Calibri" pitchFamily="34" charset="-120"/>
              </a:rPr>
              <a:t>Shared claim state: the typed result of every step, one copy per agent. Agents never call each other.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AI WORKFLOW</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One click runs seven steps and survives failures</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6</a:t>
            </a:r>
            <a:endParaRPr lang="en-US" sz="900" dirty="0"/>
          </a:p>
        </p:txBody>
      </p:sp>
      <p:sp>
        <p:nvSpPr>
          <p:cNvPr id="6" name="Text 4"/>
          <p:cNvSpPr txBox="1"/>
          <p:nvPr/>
        </p:nvSpPr>
        <p:spPr>
          <a:xfrm>
            <a:off x="457200" y="1280160"/>
            <a:ext cx="2286000" cy="256032"/>
          </a:xfrm>
          <a:prstGeom prst="rect">
            <a:avLst/>
          </a:prstGeom>
          <a:noFill/>
          <a:ln/>
        </p:spPr>
        <p:txBody>
          <a:bodyPr wrap="square" lIns="0" tIns="0" rIns="0" bIns="0" rtlCol="0" anchor="t"/>
          <a:lstStyle/>
          <a:p>
            <a:pPr indent="0" marL="0">
              <a:buNone/>
            </a:pPr>
            <a:r>
              <a:rPr lang="en-US" sz="1300" b="1" dirty="0">
                <a:solidFill>
                  <a:srgbClr val="1D5C73"/>
                </a:solidFill>
                <a:latin typeface="Calibri" pitchFamily="34" charset="0"/>
                <a:ea typeface="Calibri" pitchFamily="34" charset="-122"/>
                <a:cs typeface="Calibri" pitchFamily="34" charset="-120"/>
              </a:rPr>
              <a:t>Four outcomes per step</a:t>
            </a:r>
            <a:endParaRPr lang="en-US" sz="1300" dirty="0"/>
          </a:p>
        </p:txBody>
      </p:sp>
      <p:sp>
        <p:nvSpPr>
          <p:cNvPr id="7" name="Shape 5"/>
          <p:cNvSpPr/>
          <p:nvPr/>
        </p:nvSpPr>
        <p:spPr>
          <a:xfrm>
            <a:off x="457200" y="1627632"/>
            <a:ext cx="2286000" cy="640080"/>
          </a:xfrm>
          <a:prstGeom prst="roundRect">
            <a:avLst>
              <a:gd name="adj" fmla="val 10000"/>
            </a:avLst>
          </a:prstGeom>
          <a:solidFill>
            <a:srgbClr val="FFFFFF"/>
          </a:solidFill>
          <a:ln w="12700">
            <a:solidFill>
              <a:srgbClr val="C9D1D6"/>
            </a:solidFill>
            <a:prstDash val="solid"/>
          </a:ln>
        </p:spPr>
      </p:sp>
      <p:sp>
        <p:nvSpPr>
          <p:cNvPr id="8" name="Shape 6"/>
          <p:cNvSpPr/>
          <p:nvPr/>
        </p:nvSpPr>
        <p:spPr>
          <a:xfrm>
            <a:off x="457200" y="1719072"/>
            <a:ext cx="64008" cy="457200"/>
          </a:xfrm>
          <a:prstGeom prst="rect">
            <a:avLst/>
          </a:prstGeom>
          <a:solidFill>
            <a:srgbClr val="1F6B42"/>
          </a:solidFill>
          <a:ln w="12700">
            <a:solidFill>
              <a:srgbClr val="1F6B42"/>
            </a:solidFill>
            <a:prstDash val="solid"/>
          </a:ln>
        </p:spPr>
      </p:sp>
      <p:sp>
        <p:nvSpPr>
          <p:cNvPr id="9" name="Text 7"/>
          <p:cNvSpPr txBox="1"/>
          <p:nvPr/>
        </p:nvSpPr>
        <p:spPr>
          <a:xfrm>
            <a:off x="640080" y="1700784"/>
            <a:ext cx="2011680" cy="228600"/>
          </a:xfrm>
          <a:prstGeom prst="rect">
            <a:avLst/>
          </a:prstGeom>
          <a:noFill/>
          <a:ln/>
        </p:spPr>
        <p:txBody>
          <a:bodyPr wrap="square" lIns="0" tIns="0" rIns="0" bIns="0" rtlCol="0" anchor="t"/>
          <a:lstStyle/>
          <a:p>
            <a:pPr indent="0" marL="0">
              <a:buNone/>
            </a:pPr>
            <a:r>
              <a:rPr lang="en-US" sz="1250" b="1" dirty="0">
                <a:solidFill>
                  <a:srgbClr val="1F6B42"/>
                </a:solidFill>
                <a:latin typeface="Calibri" pitchFamily="34" charset="0"/>
                <a:ea typeface="Calibri" pitchFamily="34" charset="-122"/>
                <a:cs typeface="Calibri" pitchFamily="34" charset="-120"/>
              </a:rPr>
              <a:t>Done</a:t>
            </a:r>
            <a:endParaRPr lang="en-US" sz="1250" dirty="0"/>
          </a:p>
        </p:txBody>
      </p:sp>
      <p:sp>
        <p:nvSpPr>
          <p:cNvPr id="10" name="Text 8"/>
          <p:cNvSpPr txBox="1"/>
          <p:nvPr/>
        </p:nvSpPr>
        <p:spPr>
          <a:xfrm>
            <a:off x="640080" y="1956816"/>
            <a:ext cx="2011680" cy="27432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Finished, nothing to flag.</a:t>
            </a:r>
            <a:endParaRPr lang="en-US" sz="1000" dirty="0"/>
          </a:p>
        </p:txBody>
      </p:sp>
      <p:sp>
        <p:nvSpPr>
          <p:cNvPr id="11" name="Shape 9"/>
          <p:cNvSpPr/>
          <p:nvPr/>
        </p:nvSpPr>
        <p:spPr>
          <a:xfrm>
            <a:off x="457200" y="2359152"/>
            <a:ext cx="2286000" cy="640080"/>
          </a:xfrm>
          <a:prstGeom prst="roundRect">
            <a:avLst>
              <a:gd name="adj" fmla="val 10000"/>
            </a:avLst>
          </a:prstGeom>
          <a:solidFill>
            <a:srgbClr val="FFFFFF"/>
          </a:solidFill>
          <a:ln w="12700">
            <a:solidFill>
              <a:srgbClr val="C9D1D6"/>
            </a:solidFill>
            <a:prstDash val="solid"/>
          </a:ln>
        </p:spPr>
      </p:sp>
      <p:sp>
        <p:nvSpPr>
          <p:cNvPr id="12" name="Shape 10"/>
          <p:cNvSpPr/>
          <p:nvPr/>
        </p:nvSpPr>
        <p:spPr>
          <a:xfrm>
            <a:off x="457200" y="2450592"/>
            <a:ext cx="64008" cy="457200"/>
          </a:xfrm>
          <a:prstGeom prst="rect">
            <a:avLst/>
          </a:prstGeom>
          <a:solidFill>
            <a:srgbClr val="B7791F"/>
          </a:solidFill>
          <a:ln w="12700">
            <a:solidFill>
              <a:srgbClr val="B7791F"/>
            </a:solidFill>
            <a:prstDash val="solid"/>
          </a:ln>
        </p:spPr>
      </p:sp>
      <p:sp>
        <p:nvSpPr>
          <p:cNvPr id="13" name="Text 11"/>
          <p:cNvSpPr txBox="1"/>
          <p:nvPr/>
        </p:nvSpPr>
        <p:spPr>
          <a:xfrm>
            <a:off x="640080" y="2432304"/>
            <a:ext cx="2011680" cy="228600"/>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Warning</a:t>
            </a:r>
            <a:endParaRPr lang="en-US" sz="1250" dirty="0"/>
          </a:p>
        </p:txBody>
      </p:sp>
      <p:sp>
        <p:nvSpPr>
          <p:cNvPr id="14" name="Text 12"/>
          <p:cNvSpPr txBox="1"/>
          <p:nvPr/>
        </p:nvSpPr>
        <p:spPr>
          <a:xfrm>
            <a:off x="640080" y="2688336"/>
            <a:ext cx="2011680" cy="27432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Finished. A person should look.</a:t>
            </a:r>
            <a:endParaRPr lang="en-US" sz="1000" dirty="0"/>
          </a:p>
        </p:txBody>
      </p:sp>
      <p:sp>
        <p:nvSpPr>
          <p:cNvPr id="15" name="Shape 13"/>
          <p:cNvSpPr/>
          <p:nvPr/>
        </p:nvSpPr>
        <p:spPr>
          <a:xfrm>
            <a:off x="457200" y="3090672"/>
            <a:ext cx="2286000" cy="640080"/>
          </a:xfrm>
          <a:prstGeom prst="roundRect">
            <a:avLst>
              <a:gd name="adj" fmla="val 10000"/>
            </a:avLst>
          </a:prstGeom>
          <a:solidFill>
            <a:srgbClr val="FFFFFF"/>
          </a:solidFill>
          <a:ln w="12700">
            <a:solidFill>
              <a:srgbClr val="C9D1D6"/>
            </a:solidFill>
            <a:prstDash val="solid"/>
          </a:ln>
        </p:spPr>
      </p:sp>
      <p:sp>
        <p:nvSpPr>
          <p:cNvPr id="16" name="Shape 14"/>
          <p:cNvSpPr/>
          <p:nvPr/>
        </p:nvSpPr>
        <p:spPr>
          <a:xfrm>
            <a:off x="457200" y="3182112"/>
            <a:ext cx="64008" cy="457200"/>
          </a:xfrm>
          <a:prstGeom prst="rect">
            <a:avLst/>
          </a:prstGeom>
          <a:solidFill>
            <a:srgbClr val="9B1C1C"/>
          </a:solidFill>
          <a:ln w="12700">
            <a:solidFill>
              <a:srgbClr val="9B1C1C"/>
            </a:solidFill>
            <a:prstDash val="solid"/>
          </a:ln>
        </p:spPr>
      </p:sp>
      <p:sp>
        <p:nvSpPr>
          <p:cNvPr id="17" name="Text 15"/>
          <p:cNvSpPr txBox="1"/>
          <p:nvPr/>
        </p:nvSpPr>
        <p:spPr>
          <a:xfrm>
            <a:off x="640080" y="3163824"/>
            <a:ext cx="2011680" cy="228600"/>
          </a:xfrm>
          <a:prstGeom prst="rect">
            <a:avLst/>
          </a:prstGeom>
          <a:noFill/>
          <a:ln/>
        </p:spPr>
        <p:txBody>
          <a:bodyPr wrap="square" lIns="0" tIns="0" rIns="0" bIns="0" rtlCol="0" anchor="t"/>
          <a:lstStyle/>
          <a:p>
            <a:pPr indent="0" marL="0">
              <a:buNone/>
            </a:pPr>
            <a:r>
              <a:rPr lang="en-US" sz="1250" b="1" dirty="0">
                <a:solidFill>
                  <a:srgbClr val="9B1C1C"/>
                </a:solidFill>
                <a:latin typeface="Calibri" pitchFamily="34" charset="0"/>
                <a:ea typeface="Calibri" pitchFamily="34" charset="-122"/>
                <a:cs typeface="Calibri" pitchFamily="34" charset="-120"/>
              </a:rPr>
              <a:t>Failed</a:t>
            </a:r>
            <a:endParaRPr lang="en-US" sz="1250" dirty="0"/>
          </a:p>
        </p:txBody>
      </p:sp>
      <p:sp>
        <p:nvSpPr>
          <p:cNvPr id="18" name="Text 16"/>
          <p:cNvSpPr txBox="1"/>
          <p:nvPr/>
        </p:nvSpPr>
        <p:spPr>
          <a:xfrm>
            <a:off x="640080" y="3419856"/>
            <a:ext cx="2011680" cy="27432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Could not finish. The claim goes on.</a:t>
            </a:r>
            <a:endParaRPr lang="en-US" sz="1000" dirty="0"/>
          </a:p>
        </p:txBody>
      </p:sp>
      <p:sp>
        <p:nvSpPr>
          <p:cNvPr id="19" name="Shape 17"/>
          <p:cNvSpPr/>
          <p:nvPr/>
        </p:nvSpPr>
        <p:spPr>
          <a:xfrm>
            <a:off x="457200" y="3822192"/>
            <a:ext cx="2286000" cy="640080"/>
          </a:xfrm>
          <a:prstGeom prst="roundRect">
            <a:avLst>
              <a:gd name="adj" fmla="val 10000"/>
            </a:avLst>
          </a:prstGeom>
          <a:solidFill>
            <a:srgbClr val="FFFFFF"/>
          </a:solidFill>
          <a:ln w="12700">
            <a:solidFill>
              <a:srgbClr val="C9D1D6"/>
            </a:solidFill>
            <a:prstDash val="solid"/>
          </a:ln>
        </p:spPr>
      </p:sp>
      <p:sp>
        <p:nvSpPr>
          <p:cNvPr id="20" name="Shape 18"/>
          <p:cNvSpPr/>
          <p:nvPr/>
        </p:nvSpPr>
        <p:spPr>
          <a:xfrm>
            <a:off x="457200" y="3913632"/>
            <a:ext cx="64008" cy="457200"/>
          </a:xfrm>
          <a:prstGeom prst="rect">
            <a:avLst/>
          </a:prstGeom>
          <a:solidFill>
            <a:srgbClr val="5B6670"/>
          </a:solidFill>
          <a:ln w="12700">
            <a:solidFill>
              <a:srgbClr val="5B6670"/>
            </a:solidFill>
            <a:prstDash val="solid"/>
          </a:ln>
        </p:spPr>
      </p:sp>
      <p:sp>
        <p:nvSpPr>
          <p:cNvPr id="21" name="Text 19"/>
          <p:cNvSpPr txBox="1"/>
          <p:nvPr/>
        </p:nvSpPr>
        <p:spPr>
          <a:xfrm>
            <a:off x="640080" y="3895344"/>
            <a:ext cx="2011680" cy="228600"/>
          </a:xfrm>
          <a:prstGeom prst="rect">
            <a:avLst/>
          </a:prstGeom>
          <a:noFill/>
          <a:ln/>
        </p:spPr>
        <p:txBody>
          <a:bodyPr wrap="square" lIns="0" tIns="0" rIns="0" bIns="0" rtlCol="0" anchor="t"/>
          <a:lstStyle/>
          <a:p>
            <a:pPr indent="0" marL="0">
              <a:buNone/>
            </a:pPr>
            <a:r>
              <a:rPr lang="en-US" sz="1250" b="1" dirty="0">
                <a:solidFill>
                  <a:srgbClr val="5B6670"/>
                </a:solidFill>
                <a:latin typeface="Calibri" pitchFamily="34" charset="0"/>
                <a:ea typeface="Calibri" pitchFamily="34" charset="-122"/>
                <a:cs typeface="Calibri" pitchFamily="34" charset="-120"/>
              </a:rPr>
              <a:t>Skipped</a:t>
            </a:r>
            <a:endParaRPr lang="en-US" sz="1250" dirty="0"/>
          </a:p>
        </p:txBody>
      </p:sp>
      <p:sp>
        <p:nvSpPr>
          <p:cNvPr id="22" name="Text 20"/>
          <p:cNvSpPr txBox="1"/>
          <p:nvPr/>
        </p:nvSpPr>
        <p:spPr>
          <a:xfrm>
            <a:off x="640080" y="4151376"/>
            <a:ext cx="2011680" cy="27432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Something it needs is missing. Reason shown.</a:t>
            </a:r>
            <a:endParaRPr lang="en-US" sz="1000" dirty="0"/>
          </a:p>
        </p:txBody>
      </p:sp>
      <p:sp>
        <p:nvSpPr>
          <p:cNvPr id="23" name="Text 21"/>
          <p:cNvSpPr txBox="1"/>
          <p:nvPr/>
        </p:nvSpPr>
        <p:spPr>
          <a:xfrm>
            <a:off x="2926080" y="1280160"/>
            <a:ext cx="3291840" cy="256032"/>
          </a:xfrm>
          <a:prstGeom prst="rect">
            <a:avLst/>
          </a:prstGeom>
          <a:noFill/>
          <a:ln/>
        </p:spPr>
        <p:txBody>
          <a:bodyPr wrap="square" lIns="0" tIns="0" rIns="0" bIns="0" rtlCol="0" anchor="t"/>
          <a:lstStyle/>
          <a:p>
            <a:pPr indent="0" marL="0">
              <a:buNone/>
            </a:pPr>
            <a:r>
              <a:rPr lang="en-US" sz="1300" b="1" dirty="0">
                <a:solidFill>
                  <a:srgbClr val="1D5C73"/>
                </a:solidFill>
                <a:latin typeface="Calibri" pitchFamily="34" charset="0"/>
                <a:ea typeface="Calibri" pitchFamily="34" charset="-122"/>
                <a:cs typeface="Calibri" pitchFamily="34" charset="-120"/>
              </a:rPr>
              <a:t>What happens when</a:t>
            </a:r>
            <a:endParaRPr lang="en-US" sz="1300" dirty="0"/>
          </a:p>
        </p:txBody>
      </p:sp>
      <p:sp>
        <p:nvSpPr>
          <p:cNvPr id="24" name="Shape 22"/>
          <p:cNvSpPr/>
          <p:nvPr/>
        </p:nvSpPr>
        <p:spPr>
          <a:xfrm>
            <a:off x="2926080" y="1627632"/>
            <a:ext cx="3383280" cy="640080"/>
          </a:xfrm>
          <a:prstGeom prst="roundRect">
            <a:avLst>
              <a:gd name="adj" fmla="val 10000"/>
            </a:avLst>
          </a:prstGeom>
          <a:solidFill>
            <a:srgbClr val="FFFFFF"/>
          </a:solidFill>
          <a:ln w="12700">
            <a:solidFill>
              <a:srgbClr val="C9D1D6"/>
            </a:solidFill>
            <a:prstDash val="solid"/>
          </a:ln>
        </p:spPr>
      </p:sp>
      <p:sp>
        <p:nvSpPr>
          <p:cNvPr id="25" name="Text 23"/>
          <p:cNvSpPr txBox="1"/>
          <p:nvPr/>
        </p:nvSpPr>
        <p:spPr>
          <a:xfrm>
            <a:off x="3063240" y="1700784"/>
            <a:ext cx="3108960" cy="201168"/>
          </a:xfrm>
          <a:prstGeom prst="rect">
            <a:avLst/>
          </a:prstGeom>
          <a:noFill/>
          <a:ln/>
        </p:spPr>
        <p:txBody>
          <a:bodyPr wrap="square" lIns="0" tIns="0" rIns="0" bIns="0" rtlCol="0" anchor="t"/>
          <a:lstStyle/>
          <a:p>
            <a:pPr indent="0" marL="0">
              <a:buNone/>
            </a:pPr>
            <a:r>
              <a:rPr lang="en-US" sz="1150" b="1" dirty="0">
                <a:solidFill>
                  <a:srgbClr val="17212B"/>
                </a:solidFill>
                <a:latin typeface="Calibri" pitchFamily="34" charset="0"/>
                <a:ea typeface="Calibri" pitchFamily="34" charset="-122"/>
                <a:cs typeface="Calibri" pitchFamily="34" charset="-120"/>
              </a:rPr>
              <a:t>No policy attached</a:t>
            </a:r>
            <a:endParaRPr lang="en-US" sz="1150" dirty="0"/>
          </a:p>
        </p:txBody>
      </p:sp>
      <p:sp>
        <p:nvSpPr>
          <p:cNvPr id="26" name="Text 24"/>
          <p:cNvSpPr txBox="1"/>
          <p:nvPr/>
        </p:nvSpPr>
        <p:spPr>
          <a:xfrm>
            <a:off x="3063240" y="1920240"/>
            <a:ext cx="3108960" cy="329184"/>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Evidence says so. The amount is not calculated. A person gets "request more information".</a:t>
            </a:r>
            <a:endParaRPr lang="en-US" sz="950" dirty="0"/>
          </a:p>
        </p:txBody>
      </p:sp>
      <p:sp>
        <p:nvSpPr>
          <p:cNvPr id="27" name="Shape 25"/>
          <p:cNvSpPr/>
          <p:nvPr/>
        </p:nvSpPr>
        <p:spPr>
          <a:xfrm>
            <a:off x="2926080" y="2359152"/>
            <a:ext cx="3383280" cy="640080"/>
          </a:xfrm>
          <a:prstGeom prst="roundRect">
            <a:avLst>
              <a:gd name="adj" fmla="val 10000"/>
            </a:avLst>
          </a:prstGeom>
          <a:solidFill>
            <a:srgbClr val="FFFFFF"/>
          </a:solidFill>
          <a:ln w="12700">
            <a:solidFill>
              <a:srgbClr val="C9D1D6"/>
            </a:solidFill>
            <a:prstDash val="solid"/>
          </a:ln>
        </p:spPr>
      </p:sp>
      <p:sp>
        <p:nvSpPr>
          <p:cNvPr id="28" name="Text 26"/>
          <p:cNvSpPr txBox="1"/>
          <p:nvPr/>
        </p:nvSpPr>
        <p:spPr>
          <a:xfrm>
            <a:off x="3063240" y="2432304"/>
            <a:ext cx="3108960" cy="201168"/>
          </a:xfrm>
          <a:prstGeom prst="rect">
            <a:avLst/>
          </a:prstGeom>
          <a:noFill/>
          <a:ln/>
        </p:spPr>
        <p:txBody>
          <a:bodyPr wrap="square" lIns="0" tIns="0" rIns="0" bIns="0" rtlCol="0" anchor="t"/>
          <a:lstStyle/>
          <a:p>
            <a:pPr indent="0" marL="0">
              <a:buNone/>
            </a:pPr>
            <a:r>
              <a:rPr lang="en-US" sz="1150" b="1" dirty="0">
                <a:solidFill>
                  <a:srgbClr val="17212B"/>
                </a:solidFill>
                <a:latin typeface="Calibri" pitchFamily="34" charset="0"/>
                <a:ea typeface="Calibri" pitchFamily="34" charset="-122"/>
                <a:cs typeface="Calibri" pitchFamily="34" charset="-120"/>
              </a:rPr>
              <a:t>A vision call fails</a:t>
            </a:r>
            <a:endParaRPr lang="en-US" sz="1150" dirty="0"/>
          </a:p>
        </p:txBody>
      </p:sp>
      <p:sp>
        <p:nvSpPr>
          <p:cNvPr id="29" name="Text 27"/>
          <p:cNvSpPr txBox="1"/>
          <p:nvPr/>
        </p:nvSpPr>
        <p:spPr>
          <a:xfrm>
            <a:off x="3063240" y="2651760"/>
            <a:ext cx="3108960" cy="329184"/>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The damage step warns. The photos stay visible.</a:t>
            </a:r>
            <a:endParaRPr lang="en-US" sz="950" dirty="0"/>
          </a:p>
        </p:txBody>
      </p:sp>
      <p:sp>
        <p:nvSpPr>
          <p:cNvPr id="30" name="Shape 28"/>
          <p:cNvSpPr/>
          <p:nvPr/>
        </p:nvSpPr>
        <p:spPr>
          <a:xfrm>
            <a:off x="2926080" y="3090672"/>
            <a:ext cx="3383280" cy="640080"/>
          </a:xfrm>
          <a:prstGeom prst="roundRect">
            <a:avLst>
              <a:gd name="adj" fmla="val 10000"/>
            </a:avLst>
          </a:prstGeom>
          <a:solidFill>
            <a:srgbClr val="FFFFFF"/>
          </a:solidFill>
          <a:ln w="12700">
            <a:solidFill>
              <a:srgbClr val="C9D1D6"/>
            </a:solidFill>
            <a:prstDash val="solid"/>
          </a:ln>
        </p:spPr>
      </p:sp>
      <p:sp>
        <p:nvSpPr>
          <p:cNvPr id="31" name="Text 29"/>
          <p:cNvSpPr txBox="1"/>
          <p:nvPr/>
        </p:nvSpPr>
        <p:spPr>
          <a:xfrm>
            <a:off x="3063240" y="3163824"/>
            <a:ext cx="3108960" cy="201168"/>
          </a:xfrm>
          <a:prstGeom prst="rect">
            <a:avLst/>
          </a:prstGeom>
          <a:noFill/>
          <a:ln/>
        </p:spPr>
        <p:txBody>
          <a:bodyPr wrap="square" lIns="0" tIns="0" rIns="0" bIns="0" rtlCol="0" anchor="t"/>
          <a:lstStyle/>
          <a:p>
            <a:pPr indent="0" marL="0">
              <a:buNone/>
            </a:pPr>
            <a:r>
              <a:rPr lang="en-US" sz="1150" b="1" dirty="0">
                <a:solidFill>
                  <a:srgbClr val="17212B"/>
                </a:solidFill>
                <a:latin typeface="Calibri" pitchFamily="34" charset="0"/>
                <a:ea typeface="Calibri" pitchFamily="34" charset="-122"/>
                <a:cs typeface="Calibri" pitchFamily="34" charset="-120"/>
              </a:rPr>
              <a:t>Intake fails</a:t>
            </a:r>
            <a:endParaRPr lang="en-US" sz="1150" dirty="0"/>
          </a:p>
        </p:txBody>
      </p:sp>
      <p:sp>
        <p:nvSpPr>
          <p:cNvPr id="32" name="Text 30"/>
          <p:cNvSpPr txBox="1"/>
          <p:nvPr/>
        </p:nvSpPr>
        <p:spPr>
          <a:xfrm>
            <a:off x="3063240" y="3383280"/>
            <a:ext cx="3108960" cy="329184"/>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Steps that need it are skipped, each with a reason.</a:t>
            </a:r>
            <a:endParaRPr lang="en-US" sz="950" dirty="0"/>
          </a:p>
        </p:txBody>
      </p:sp>
      <p:sp>
        <p:nvSpPr>
          <p:cNvPr id="33" name="Shape 31"/>
          <p:cNvSpPr/>
          <p:nvPr/>
        </p:nvSpPr>
        <p:spPr>
          <a:xfrm>
            <a:off x="2926080" y="3822192"/>
            <a:ext cx="3383280" cy="640080"/>
          </a:xfrm>
          <a:prstGeom prst="roundRect">
            <a:avLst>
              <a:gd name="adj" fmla="val 10000"/>
            </a:avLst>
          </a:prstGeom>
          <a:solidFill>
            <a:srgbClr val="FFFFFF"/>
          </a:solidFill>
          <a:ln w="12700">
            <a:solidFill>
              <a:srgbClr val="C9D1D6"/>
            </a:solidFill>
            <a:prstDash val="solid"/>
          </a:ln>
        </p:spPr>
      </p:sp>
      <p:sp>
        <p:nvSpPr>
          <p:cNvPr id="34" name="Text 32"/>
          <p:cNvSpPr txBox="1"/>
          <p:nvPr/>
        </p:nvSpPr>
        <p:spPr>
          <a:xfrm>
            <a:off x="3063240" y="3895344"/>
            <a:ext cx="3108960" cy="201168"/>
          </a:xfrm>
          <a:prstGeom prst="rect">
            <a:avLst/>
          </a:prstGeom>
          <a:noFill/>
          <a:ln/>
        </p:spPr>
        <p:txBody>
          <a:bodyPr wrap="square" lIns="0" tIns="0" rIns="0" bIns="0" rtlCol="0" anchor="t"/>
          <a:lstStyle/>
          <a:p>
            <a:pPr indent="0" marL="0">
              <a:buNone/>
            </a:pPr>
            <a:r>
              <a:rPr lang="en-US" sz="1150" b="1" dirty="0">
                <a:solidFill>
                  <a:srgbClr val="17212B"/>
                </a:solidFill>
                <a:latin typeface="Calibri" pitchFamily="34" charset="0"/>
                <a:ea typeface="Calibri" pitchFamily="34" charset="-122"/>
                <a:cs typeface="Calibri" pitchFamily="34" charset="-120"/>
              </a:rPr>
              <a:t>A quotation is attached</a:t>
            </a:r>
            <a:endParaRPr lang="en-US" sz="1150" dirty="0"/>
          </a:p>
        </p:txBody>
      </p:sp>
      <p:sp>
        <p:nvSpPr>
          <p:cNvPr id="35" name="Text 33"/>
          <p:cNvSpPr txBox="1"/>
          <p:nvPr/>
        </p:nvSpPr>
        <p:spPr>
          <a:xfrm>
            <a:off x="3063240" y="4114800"/>
            <a:ext cx="3108960" cy="329184"/>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5 of 7 steps re-run. Policy and damage are not repeated.</a:t>
            </a:r>
            <a:endParaRPr lang="en-US" sz="950" dirty="0"/>
          </a:p>
        </p:txBody>
      </p:sp>
      <p:sp>
        <p:nvSpPr>
          <p:cNvPr id="36" name="Text 34"/>
          <p:cNvSpPr txBox="1"/>
          <p:nvPr/>
        </p:nvSpPr>
        <p:spPr>
          <a:xfrm>
            <a:off x="6492240" y="1280160"/>
            <a:ext cx="2194560" cy="256032"/>
          </a:xfrm>
          <a:prstGeom prst="rect">
            <a:avLst/>
          </a:prstGeom>
          <a:noFill/>
          <a:ln/>
        </p:spPr>
        <p:txBody>
          <a:bodyPr wrap="square" lIns="0" tIns="0" rIns="0" bIns="0" rtlCol="0" anchor="t"/>
          <a:lstStyle/>
          <a:p>
            <a:pPr indent="0" marL="0">
              <a:buNone/>
            </a:pPr>
            <a:r>
              <a:rPr lang="en-US" sz="1300" b="1" dirty="0">
                <a:solidFill>
                  <a:srgbClr val="1D5C73"/>
                </a:solidFill>
                <a:latin typeface="Calibri" pitchFamily="34" charset="0"/>
                <a:ea typeface="Calibri" pitchFamily="34" charset="-122"/>
                <a:cs typeface="Calibri" pitchFamily="34" charset="-120"/>
              </a:rPr>
              <a:t>Maximum model calls per claim</a:t>
            </a:r>
            <a:endParaRPr lang="en-US" sz="1300" dirty="0"/>
          </a:p>
        </p:txBody>
      </p:sp>
      <p:graphicFrame>
        <p:nvGraphicFramePr>
          <p:cNvPr id="37" name="Chart 0" descr=""/>
          <p:cNvGraphicFramePr/>
          <p:nvPr/>
        </p:nvGraphicFramePr>
        <p:xfrm>
          <a:off x="6400800" y="1572768"/>
          <a:ext cx="2377440" cy="2423160"/>
        </p:xfrm>
        <a:graphic xmlns:a="http://schemas.openxmlformats.org/drawingml/2006/main">
          <a:graphicData uri="http://schemas.openxmlformats.org/drawingml/2006/chart">
            <c:chart xmlns:c="http://schemas.openxmlformats.org/drawingml/2006/chart" r:id="rId1"/>
          </a:graphicData>
        </a:graphic>
      </p:graphicFrame>
      <p:sp>
        <p:nvSpPr>
          <p:cNvPr id="38" name="Text 35"/>
          <p:cNvSpPr txBox="1"/>
          <p:nvPr/>
        </p:nvSpPr>
        <p:spPr>
          <a:xfrm>
            <a:off x="6492240" y="4041648"/>
            <a:ext cx="2194560" cy="502920"/>
          </a:xfrm>
          <a:prstGeom prst="rect">
            <a:avLst/>
          </a:prstGeom>
          <a:noFill/>
          <a:ln/>
        </p:spPr>
        <p:txBody>
          <a:bodyPr wrap="square" lIns="0" tIns="0" rIns="0" bIns="0" rtlCol="0" anchor="t"/>
          <a:lstStyle/>
          <a:p>
            <a:pPr indent="0" marL="0">
              <a:buNone/>
            </a:pPr>
            <a:r>
              <a:rPr lang="en-US" sz="950" dirty="0">
                <a:solidFill>
                  <a:srgbClr val="5B6670"/>
                </a:solidFill>
                <a:latin typeface="Calibri" pitchFamily="34" charset="0"/>
                <a:ea typeface="Calibri" pitchFamily="34" charset="-122"/>
                <a:cs typeface="Calibri" pitchFamily="34" charset="-120"/>
              </a:rPr>
              <a:t>At most 6. Risk skips its call with no documents to compare. Damage skips with no photos.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POLICY RAG</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Every finding cites its page, or says not found</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457200" y="1280160"/>
            <a:ext cx="1280160" cy="1325880"/>
          </a:xfrm>
          <a:prstGeom prst="roundRect">
            <a:avLst>
              <a:gd name="adj" fmla="val 5000"/>
            </a:avLst>
          </a:prstGeom>
          <a:solidFill>
            <a:srgbClr val="E1EEF3"/>
          </a:solidFill>
          <a:ln w="15875">
            <a:solidFill>
              <a:srgbClr val="1D5C73"/>
            </a:solidFill>
            <a:prstDash val="solid"/>
          </a:ln>
        </p:spPr>
      </p:sp>
      <p:sp>
        <p:nvSpPr>
          <p:cNvPr id="7" name="Text 5"/>
          <p:cNvSpPr txBox="1"/>
          <p:nvPr/>
        </p:nvSpPr>
        <p:spPr>
          <a:xfrm>
            <a:off x="548640" y="1371600"/>
            <a:ext cx="1143000" cy="256032"/>
          </a:xfrm>
          <a:prstGeom prst="rect">
            <a:avLst/>
          </a:prstGeom>
          <a:noFill/>
          <a:ln/>
        </p:spPr>
        <p:txBody>
          <a:bodyPr wrap="square" lIns="0" tIns="0" rIns="0" bIns="0" rtlCol="0" anchor="t"/>
          <a:lstStyle/>
          <a:p>
            <a:pPr indent="0" marL="0">
              <a:buNone/>
            </a:pPr>
            <a:r>
              <a:rPr lang="en-US" sz="1250" b="1" dirty="0">
                <a:solidFill>
                  <a:srgbClr val="17212B"/>
                </a:solidFill>
                <a:latin typeface="Calibri" pitchFamily="34" charset="0"/>
                <a:ea typeface="Calibri" pitchFamily="34" charset="-122"/>
                <a:cs typeface="Calibri" pitchFamily="34" charset="-120"/>
              </a:rPr>
              <a:t>1  Read</a:t>
            </a:r>
            <a:endParaRPr lang="en-US" sz="1250" dirty="0"/>
          </a:p>
        </p:txBody>
      </p:sp>
      <p:sp>
        <p:nvSpPr>
          <p:cNvPr id="8" name="Text 6"/>
          <p:cNvSpPr txBox="1"/>
          <p:nvPr/>
        </p:nvSpPr>
        <p:spPr>
          <a:xfrm>
            <a:off x="548640" y="1682496"/>
            <a:ext cx="1115568" cy="86868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PyMuPDF, pypdf if it fails or finds no text</a:t>
            </a:r>
            <a:endParaRPr lang="en-US" sz="1000" dirty="0"/>
          </a:p>
        </p:txBody>
      </p:sp>
      <p:sp>
        <p:nvSpPr>
          <p:cNvPr id="9" name="Shape 7"/>
          <p:cNvSpPr/>
          <p:nvPr/>
        </p:nvSpPr>
        <p:spPr>
          <a:xfrm>
            <a:off x="1847088" y="1280160"/>
            <a:ext cx="1280160" cy="1325880"/>
          </a:xfrm>
          <a:prstGeom prst="roundRect">
            <a:avLst>
              <a:gd name="adj" fmla="val 5000"/>
            </a:avLst>
          </a:prstGeom>
          <a:solidFill>
            <a:srgbClr val="E1EEF3"/>
          </a:solidFill>
          <a:ln w="15875">
            <a:solidFill>
              <a:srgbClr val="1D5C73"/>
            </a:solidFill>
            <a:prstDash val="solid"/>
          </a:ln>
        </p:spPr>
      </p:sp>
      <p:sp>
        <p:nvSpPr>
          <p:cNvPr id="10" name="Text 8"/>
          <p:cNvSpPr txBox="1"/>
          <p:nvPr/>
        </p:nvSpPr>
        <p:spPr>
          <a:xfrm>
            <a:off x="1938528" y="1371600"/>
            <a:ext cx="1143000" cy="256032"/>
          </a:xfrm>
          <a:prstGeom prst="rect">
            <a:avLst/>
          </a:prstGeom>
          <a:noFill/>
          <a:ln/>
        </p:spPr>
        <p:txBody>
          <a:bodyPr wrap="square" lIns="0" tIns="0" rIns="0" bIns="0" rtlCol="0" anchor="t"/>
          <a:lstStyle/>
          <a:p>
            <a:pPr indent="0" marL="0">
              <a:buNone/>
            </a:pPr>
            <a:r>
              <a:rPr lang="en-US" sz="1250" b="1" dirty="0">
                <a:solidFill>
                  <a:srgbClr val="17212B"/>
                </a:solidFill>
                <a:latin typeface="Calibri" pitchFamily="34" charset="0"/>
                <a:ea typeface="Calibri" pitchFamily="34" charset="-122"/>
                <a:cs typeface="Calibri" pitchFamily="34" charset="-120"/>
              </a:rPr>
              <a:t>2  Split</a:t>
            </a:r>
            <a:endParaRPr lang="en-US" sz="1250" dirty="0"/>
          </a:p>
        </p:txBody>
      </p:sp>
      <p:sp>
        <p:nvSpPr>
          <p:cNvPr id="11" name="Text 9"/>
          <p:cNvSpPr txBox="1"/>
          <p:nvPr/>
        </p:nvSpPr>
        <p:spPr>
          <a:xfrm>
            <a:off x="1938528" y="1682496"/>
            <a:ext cx="1115568" cy="86868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By section and page. Page and section kept.</a:t>
            </a:r>
            <a:endParaRPr lang="en-US" sz="1000" dirty="0"/>
          </a:p>
        </p:txBody>
      </p:sp>
      <p:sp>
        <p:nvSpPr>
          <p:cNvPr id="12" name="Shape 10"/>
          <p:cNvSpPr/>
          <p:nvPr/>
        </p:nvSpPr>
        <p:spPr>
          <a:xfrm>
            <a:off x="3236976" y="1280160"/>
            <a:ext cx="1280160" cy="1325880"/>
          </a:xfrm>
          <a:prstGeom prst="roundRect">
            <a:avLst>
              <a:gd name="adj" fmla="val 5000"/>
            </a:avLst>
          </a:prstGeom>
          <a:solidFill>
            <a:srgbClr val="E1EEF3"/>
          </a:solidFill>
          <a:ln w="15875">
            <a:solidFill>
              <a:srgbClr val="1D5C73"/>
            </a:solidFill>
            <a:prstDash val="solid"/>
          </a:ln>
        </p:spPr>
      </p:sp>
      <p:sp>
        <p:nvSpPr>
          <p:cNvPr id="13" name="Text 11"/>
          <p:cNvSpPr txBox="1"/>
          <p:nvPr/>
        </p:nvSpPr>
        <p:spPr>
          <a:xfrm>
            <a:off x="3328416" y="1371600"/>
            <a:ext cx="1143000" cy="256032"/>
          </a:xfrm>
          <a:prstGeom prst="rect">
            <a:avLst/>
          </a:prstGeom>
          <a:noFill/>
          <a:ln/>
        </p:spPr>
        <p:txBody>
          <a:bodyPr wrap="square" lIns="0" tIns="0" rIns="0" bIns="0" rtlCol="0" anchor="t"/>
          <a:lstStyle/>
          <a:p>
            <a:pPr indent="0" marL="0">
              <a:buNone/>
            </a:pPr>
            <a:r>
              <a:rPr lang="en-US" sz="1250" b="1" dirty="0">
                <a:solidFill>
                  <a:srgbClr val="17212B"/>
                </a:solidFill>
                <a:latin typeface="Calibri" pitchFamily="34" charset="0"/>
                <a:ea typeface="Calibri" pitchFamily="34" charset="-122"/>
                <a:cs typeface="Calibri" pitchFamily="34" charset="-120"/>
              </a:rPr>
              <a:t>3  Embed</a:t>
            </a:r>
            <a:endParaRPr lang="en-US" sz="1250" dirty="0"/>
          </a:p>
        </p:txBody>
      </p:sp>
      <p:sp>
        <p:nvSpPr>
          <p:cNvPr id="14" name="Text 12"/>
          <p:cNvSpPr txBox="1"/>
          <p:nvPr/>
        </p:nvSpPr>
        <p:spPr>
          <a:xfrm>
            <a:off x="3328416" y="1682496"/>
            <a:ext cx="1115568" cy="86868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bge-small, or offline hashing in Demo Mode</a:t>
            </a:r>
            <a:endParaRPr lang="en-US" sz="1000" dirty="0"/>
          </a:p>
        </p:txBody>
      </p:sp>
      <p:sp>
        <p:nvSpPr>
          <p:cNvPr id="15" name="Shape 13"/>
          <p:cNvSpPr/>
          <p:nvPr/>
        </p:nvSpPr>
        <p:spPr>
          <a:xfrm>
            <a:off x="4626864" y="1280160"/>
            <a:ext cx="1280160" cy="1325880"/>
          </a:xfrm>
          <a:prstGeom prst="roundRect">
            <a:avLst>
              <a:gd name="adj" fmla="val 5000"/>
            </a:avLst>
          </a:prstGeom>
          <a:solidFill>
            <a:srgbClr val="E1EEF3"/>
          </a:solidFill>
          <a:ln w="15875">
            <a:solidFill>
              <a:srgbClr val="1D5C73"/>
            </a:solidFill>
            <a:prstDash val="solid"/>
          </a:ln>
        </p:spPr>
      </p:sp>
      <p:sp>
        <p:nvSpPr>
          <p:cNvPr id="16" name="Text 14"/>
          <p:cNvSpPr txBox="1"/>
          <p:nvPr/>
        </p:nvSpPr>
        <p:spPr>
          <a:xfrm>
            <a:off x="4718304" y="1371600"/>
            <a:ext cx="1143000" cy="256032"/>
          </a:xfrm>
          <a:prstGeom prst="rect">
            <a:avLst/>
          </a:prstGeom>
          <a:noFill/>
          <a:ln/>
        </p:spPr>
        <p:txBody>
          <a:bodyPr wrap="square" lIns="0" tIns="0" rIns="0" bIns="0" rtlCol="0" anchor="t"/>
          <a:lstStyle/>
          <a:p>
            <a:pPr indent="0" marL="0">
              <a:buNone/>
            </a:pPr>
            <a:r>
              <a:rPr lang="en-US" sz="1250" b="1" dirty="0">
                <a:solidFill>
                  <a:srgbClr val="17212B"/>
                </a:solidFill>
                <a:latin typeface="Calibri" pitchFamily="34" charset="0"/>
                <a:ea typeface="Calibri" pitchFamily="34" charset="-122"/>
                <a:cs typeface="Calibri" pitchFamily="34" charset="-120"/>
              </a:rPr>
              <a:t>4  Store</a:t>
            </a:r>
            <a:endParaRPr lang="en-US" sz="1250" dirty="0"/>
          </a:p>
        </p:txBody>
      </p:sp>
      <p:sp>
        <p:nvSpPr>
          <p:cNvPr id="17" name="Text 15"/>
          <p:cNvSpPr txBox="1"/>
          <p:nvPr/>
        </p:nvSpPr>
        <p:spPr>
          <a:xfrm>
            <a:off x="4718304" y="1682496"/>
            <a:ext cx="1115568" cy="86868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FAISS, or NumPy. Saved to disk.</a:t>
            </a:r>
            <a:endParaRPr lang="en-US" sz="1000" dirty="0"/>
          </a:p>
        </p:txBody>
      </p:sp>
      <p:sp>
        <p:nvSpPr>
          <p:cNvPr id="18" name="Shape 16"/>
          <p:cNvSpPr/>
          <p:nvPr/>
        </p:nvSpPr>
        <p:spPr>
          <a:xfrm>
            <a:off x="6016752" y="1280160"/>
            <a:ext cx="1280160" cy="1325880"/>
          </a:xfrm>
          <a:prstGeom prst="roundRect">
            <a:avLst>
              <a:gd name="adj" fmla="val 5000"/>
            </a:avLst>
          </a:prstGeom>
          <a:solidFill>
            <a:srgbClr val="E1EEF3"/>
          </a:solidFill>
          <a:ln w="15875">
            <a:solidFill>
              <a:srgbClr val="1D5C73"/>
            </a:solidFill>
            <a:prstDash val="solid"/>
          </a:ln>
        </p:spPr>
      </p:sp>
      <p:sp>
        <p:nvSpPr>
          <p:cNvPr id="19" name="Text 17"/>
          <p:cNvSpPr txBox="1"/>
          <p:nvPr/>
        </p:nvSpPr>
        <p:spPr>
          <a:xfrm>
            <a:off x="6108192" y="1371600"/>
            <a:ext cx="1143000" cy="256032"/>
          </a:xfrm>
          <a:prstGeom prst="rect">
            <a:avLst/>
          </a:prstGeom>
          <a:noFill/>
          <a:ln/>
        </p:spPr>
        <p:txBody>
          <a:bodyPr wrap="square" lIns="0" tIns="0" rIns="0" bIns="0" rtlCol="0" anchor="t"/>
          <a:lstStyle/>
          <a:p>
            <a:pPr indent="0" marL="0">
              <a:buNone/>
            </a:pPr>
            <a:r>
              <a:rPr lang="en-US" sz="1250" b="1" dirty="0">
                <a:solidFill>
                  <a:srgbClr val="17212B"/>
                </a:solidFill>
                <a:latin typeface="Calibri" pitchFamily="34" charset="0"/>
                <a:ea typeface="Calibri" pitchFamily="34" charset="-122"/>
                <a:cs typeface="Calibri" pitchFamily="34" charset="-120"/>
              </a:rPr>
              <a:t>5  Retrieve</a:t>
            </a:r>
            <a:endParaRPr lang="en-US" sz="1250" dirty="0"/>
          </a:p>
        </p:txBody>
      </p:sp>
      <p:sp>
        <p:nvSpPr>
          <p:cNvPr id="20" name="Text 18"/>
          <p:cNvSpPr txBox="1"/>
          <p:nvPr/>
        </p:nvSpPr>
        <p:spPr>
          <a:xfrm>
            <a:off x="6108192" y="1682496"/>
            <a:ext cx="1115568" cy="86868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Vector plus keyword search. The agent writes queries.</a:t>
            </a:r>
            <a:endParaRPr lang="en-US" sz="1000" dirty="0"/>
          </a:p>
        </p:txBody>
      </p:sp>
      <p:sp>
        <p:nvSpPr>
          <p:cNvPr id="21" name="Shape 19"/>
          <p:cNvSpPr/>
          <p:nvPr/>
        </p:nvSpPr>
        <p:spPr>
          <a:xfrm>
            <a:off x="7406640" y="1280160"/>
            <a:ext cx="1280160" cy="1325880"/>
          </a:xfrm>
          <a:prstGeom prst="roundRect">
            <a:avLst>
              <a:gd name="adj" fmla="val 5000"/>
            </a:avLst>
          </a:prstGeom>
          <a:solidFill>
            <a:srgbClr val="E4F2EA"/>
          </a:solidFill>
          <a:ln w="15875">
            <a:solidFill>
              <a:srgbClr val="1F6B42"/>
            </a:solidFill>
            <a:prstDash val="solid"/>
          </a:ln>
        </p:spPr>
      </p:sp>
      <p:sp>
        <p:nvSpPr>
          <p:cNvPr id="22" name="Text 20"/>
          <p:cNvSpPr txBox="1"/>
          <p:nvPr/>
        </p:nvSpPr>
        <p:spPr>
          <a:xfrm>
            <a:off x="7498080" y="1371600"/>
            <a:ext cx="1143000" cy="256032"/>
          </a:xfrm>
          <a:prstGeom prst="rect">
            <a:avLst/>
          </a:prstGeom>
          <a:noFill/>
          <a:ln/>
        </p:spPr>
        <p:txBody>
          <a:bodyPr wrap="square" lIns="0" tIns="0" rIns="0" bIns="0" rtlCol="0" anchor="t"/>
          <a:lstStyle/>
          <a:p>
            <a:pPr indent="0" marL="0">
              <a:buNone/>
            </a:pPr>
            <a:r>
              <a:rPr lang="en-US" sz="1250" b="1" dirty="0">
                <a:solidFill>
                  <a:srgbClr val="17212B"/>
                </a:solidFill>
                <a:latin typeface="Calibri" pitchFamily="34" charset="0"/>
                <a:ea typeface="Calibri" pitchFamily="34" charset="-122"/>
                <a:cs typeface="Calibri" pitchFamily="34" charset="-120"/>
              </a:rPr>
              <a:t>6  Verify</a:t>
            </a:r>
            <a:endParaRPr lang="en-US" sz="1250" dirty="0"/>
          </a:p>
        </p:txBody>
      </p:sp>
      <p:sp>
        <p:nvSpPr>
          <p:cNvPr id="23" name="Text 21"/>
          <p:cNvSpPr txBox="1"/>
          <p:nvPr/>
        </p:nvSpPr>
        <p:spPr>
          <a:xfrm>
            <a:off x="7498080" y="1682496"/>
            <a:ext cx="1115568" cy="868680"/>
          </a:xfrm>
          <a:prstGeom prst="rect">
            <a:avLst/>
          </a:prstGeom>
          <a:noFill/>
          <a:ln/>
        </p:spPr>
        <p:txBody>
          <a:bodyPr wrap="square" lIns="0" tIns="0" rIns="0" bIns="0" rtlCol="0" anchor="t"/>
          <a:lstStyle/>
          <a:p>
            <a:pPr indent="0" marL="0">
              <a:buNone/>
            </a:pPr>
            <a:r>
              <a:rPr lang="en-US" sz="1000" dirty="0">
                <a:solidFill>
                  <a:srgbClr val="5B6670"/>
                </a:solidFill>
                <a:latin typeface="Calibri" pitchFamily="34" charset="0"/>
                <a:ea typeface="Calibri" pitchFamily="34" charset="-122"/>
                <a:cs typeface="Calibri" pitchFamily="34" charset="-120"/>
              </a:rPr>
              <a:t>Quote found word for word? Amount inside it?</a:t>
            </a:r>
            <a:endParaRPr lang="en-US" sz="1000" dirty="0"/>
          </a:p>
        </p:txBody>
      </p:sp>
      <p:sp>
        <p:nvSpPr>
          <p:cNvPr id="24" name="Shape 22"/>
          <p:cNvSpPr/>
          <p:nvPr/>
        </p:nvSpPr>
        <p:spPr>
          <a:xfrm>
            <a:off x="457200" y="2788920"/>
            <a:ext cx="4023360" cy="1417320"/>
          </a:xfrm>
          <a:prstGeom prst="roundRect">
            <a:avLst>
              <a:gd name="adj" fmla="val 4516"/>
            </a:avLst>
          </a:prstGeom>
          <a:solidFill>
            <a:srgbClr val="FFFFFF"/>
          </a:solidFill>
          <a:ln w="15875">
            <a:solidFill>
              <a:srgbClr val="1F6B42"/>
            </a:solidFill>
            <a:prstDash val="solid"/>
          </a:ln>
        </p:spPr>
      </p:sp>
      <p:sp>
        <p:nvSpPr>
          <p:cNvPr id="25" name="Text 23"/>
          <p:cNvSpPr txBox="1"/>
          <p:nvPr/>
        </p:nvSpPr>
        <p:spPr>
          <a:xfrm>
            <a:off x="640080" y="2880360"/>
            <a:ext cx="3657600" cy="228600"/>
          </a:xfrm>
          <a:prstGeom prst="rect">
            <a:avLst/>
          </a:prstGeom>
          <a:noFill/>
          <a:ln/>
        </p:spPr>
        <p:txBody>
          <a:bodyPr wrap="square" lIns="0" tIns="0" rIns="0" bIns="0" rtlCol="0" anchor="t"/>
          <a:lstStyle/>
          <a:p>
            <a:pPr indent="0" marL="0">
              <a:buNone/>
            </a:pPr>
            <a:r>
              <a:rPr lang="en-US" sz="1100" b="1" dirty="0">
                <a:solidFill>
                  <a:srgbClr val="1F6B42"/>
                </a:solidFill>
                <a:latin typeface="Calibri" pitchFamily="34" charset="0"/>
                <a:ea typeface="Calibri" pitchFamily="34" charset="-122"/>
                <a:cs typeface="Calibri" pitchFamily="34" charset="-120"/>
              </a:rPr>
              <a:t>A verified finding</a:t>
            </a:r>
            <a:endParaRPr lang="en-US" sz="1100" dirty="0"/>
          </a:p>
        </p:txBody>
      </p:sp>
      <p:sp>
        <p:nvSpPr>
          <p:cNvPr id="26" name="Text 24"/>
          <p:cNvSpPr txBox="1"/>
          <p:nvPr/>
        </p:nvSpPr>
        <p:spPr>
          <a:xfrm>
            <a:off x="640080" y="3127248"/>
            <a:ext cx="3657600" cy="274320"/>
          </a:xfrm>
          <a:prstGeom prst="rect">
            <a:avLst/>
          </a:prstGeom>
          <a:noFill/>
          <a:ln/>
        </p:spPr>
        <p:txBody>
          <a:bodyPr wrap="square" lIns="0" tIns="0" rIns="0" bIns="0" rtlCol="0" anchor="t"/>
          <a:lstStyle/>
          <a:p>
            <a:pPr indent="0" marL="0">
              <a:buNone/>
            </a:pPr>
            <a:r>
              <a:rPr lang="en-US" sz="1500" b="1" dirty="0">
                <a:solidFill>
                  <a:srgbClr val="17212B"/>
                </a:solidFill>
                <a:latin typeface="Calibri" pitchFamily="34" charset="0"/>
                <a:ea typeface="Calibri" pitchFamily="34" charset="-122"/>
                <a:cs typeface="Calibri" pitchFamily="34" charset="-120"/>
              </a:rPr>
              <a:t>Deductible: 25,000.00</a:t>
            </a:r>
            <a:endParaRPr lang="en-US" sz="1500" dirty="0"/>
          </a:p>
        </p:txBody>
      </p:sp>
      <p:sp>
        <p:nvSpPr>
          <p:cNvPr id="27" name="Text 25"/>
          <p:cNvSpPr txBox="1"/>
          <p:nvPr/>
        </p:nvSpPr>
        <p:spPr>
          <a:xfrm>
            <a:off x="640080" y="3438144"/>
            <a:ext cx="3657600" cy="201168"/>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Page 3, Section 4. Excess (sample_motor_policy.pdf)</a:t>
            </a:r>
            <a:endParaRPr lang="en-US" sz="1050" dirty="0"/>
          </a:p>
        </p:txBody>
      </p:sp>
      <p:sp>
        <p:nvSpPr>
          <p:cNvPr id="28" name="Text 26"/>
          <p:cNvSpPr txBox="1"/>
          <p:nvPr/>
        </p:nvSpPr>
        <p:spPr>
          <a:xfrm>
            <a:off x="640080" y="3675888"/>
            <a:ext cx="3657600" cy="457200"/>
          </a:xfrm>
          <a:prstGeom prst="rect">
            <a:avLst/>
          </a:prstGeom>
          <a:noFill/>
          <a:ln/>
        </p:spPr>
        <p:txBody>
          <a:bodyPr wrap="square" lIns="0" tIns="0" rIns="0" bIns="0" rtlCol="0" anchor="t"/>
          <a:lstStyle/>
          <a:p>
            <a:pPr indent="0" marL="0">
              <a:buNone/>
            </a:pPr>
            <a:r>
              <a:rPr lang="en-US" sz="1050" i="1" dirty="0">
                <a:solidFill>
                  <a:srgbClr val="17212B"/>
                </a:solidFill>
                <a:latin typeface="Calibri" pitchFamily="34" charset="0"/>
                <a:ea typeface="Calibri" pitchFamily="34" charset="-122"/>
                <a:cs typeface="Calibri" pitchFamily="34" charset="-120"/>
              </a:rPr>
              <a:t>"The excess for a collision and accidental damage claim is PKR 25,000 for each claim."</a:t>
            </a:r>
            <a:endParaRPr lang="en-US" sz="1050" dirty="0"/>
          </a:p>
        </p:txBody>
      </p:sp>
      <p:sp>
        <p:nvSpPr>
          <p:cNvPr id="29" name="Shape 27"/>
          <p:cNvSpPr/>
          <p:nvPr/>
        </p:nvSpPr>
        <p:spPr>
          <a:xfrm>
            <a:off x="4663440" y="2788920"/>
            <a:ext cx="4023360" cy="1417320"/>
          </a:xfrm>
          <a:prstGeom prst="roundRect">
            <a:avLst>
              <a:gd name="adj" fmla="val 4516"/>
            </a:avLst>
          </a:prstGeom>
          <a:solidFill>
            <a:srgbClr val="FBF0D9"/>
          </a:solidFill>
          <a:ln w="15875">
            <a:solidFill>
              <a:srgbClr val="B7791F"/>
            </a:solidFill>
            <a:prstDash val="solid"/>
          </a:ln>
        </p:spPr>
      </p:sp>
      <p:sp>
        <p:nvSpPr>
          <p:cNvPr id="30" name="Text 28"/>
          <p:cNvSpPr txBox="1"/>
          <p:nvPr/>
        </p:nvSpPr>
        <p:spPr>
          <a:xfrm>
            <a:off x="4846320" y="2880360"/>
            <a:ext cx="3657600" cy="228600"/>
          </a:xfrm>
          <a:prstGeom prst="rect">
            <a:avLst/>
          </a:prstGeom>
          <a:noFill/>
          <a:ln/>
        </p:spPr>
        <p:txBody>
          <a:bodyPr wrap="square" lIns="0" tIns="0" rIns="0" bIns="0" rtlCol="0" anchor="t"/>
          <a:lstStyle/>
          <a:p>
            <a:pPr indent="0" marL="0">
              <a:buNone/>
            </a:pPr>
            <a:r>
              <a:rPr lang="en-US" sz="1100" b="1" dirty="0">
                <a:solidFill>
                  <a:srgbClr val="8A5A00"/>
                </a:solidFill>
                <a:latin typeface="Calibri" pitchFamily="34" charset="0"/>
                <a:ea typeface="Calibri" pitchFamily="34" charset="-122"/>
                <a:cs typeface="Calibri" pitchFamily="34" charset="-120"/>
              </a:rPr>
              <a:t>When the policy is silent</a:t>
            </a:r>
            <a:endParaRPr lang="en-US" sz="1100" dirty="0"/>
          </a:p>
        </p:txBody>
      </p:sp>
      <p:sp>
        <p:nvSpPr>
          <p:cNvPr id="31" name="Text 29"/>
          <p:cNvSpPr txBox="1"/>
          <p:nvPr/>
        </p:nvSpPr>
        <p:spPr>
          <a:xfrm>
            <a:off x="4846320" y="3127248"/>
            <a:ext cx="3657600" cy="274320"/>
          </a:xfrm>
          <a:prstGeom prst="rect">
            <a:avLst/>
          </a:prstGeom>
          <a:noFill/>
          <a:ln/>
        </p:spPr>
        <p:txBody>
          <a:bodyPr wrap="square" lIns="0" tIns="0" rIns="0" bIns="0" rtlCol="0" anchor="t"/>
          <a:lstStyle/>
          <a:p>
            <a:pPr indent="0" marL="0">
              <a:buNone/>
            </a:pPr>
            <a:r>
              <a:rPr lang="en-US" sz="1200" b="1" dirty="0">
                <a:solidFill>
                  <a:srgbClr val="17212B"/>
                </a:solidFill>
                <a:latin typeface="Calibri" pitchFamily="34" charset="0"/>
                <a:ea typeface="Calibri" pitchFamily="34" charset="-122"/>
                <a:cs typeface="Calibri" pitchFamily="34" charset="-120"/>
              </a:rPr>
              <a:t>Is a rental car provided while my car is repaired?</a:t>
            </a:r>
            <a:endParaRPr lang="en-US" sz="1200" dirty="0"/>
          </a:p>
        </p:txBody>
      </p:sp>
      <p:sp>
        <p:nvSpPr>
          <p:cNvPr id="32" name="Text 30"/>
          <p:cNvSpPr txBox="1"/>
          <p:nvPr/>
        </p:nvSpPr>
        <p:spPr>
          <a:xfrm>
            <a:off x="4846320" y="3456432"/>
            <a:ext cx="3657600" cy="256032"/>
          </a:xfrm>
          <a:prstGeom prst="rect">
            <a:avLst/>
          </a:prstGeom>
          <a:noFill/>
          <a:ln/>
        </p:spPr>
        <p:txBody>
          <a:bodyPr wrap="square" lIns="0" tIns="0" rIns="0" bIns="0" rtlCol="0" anchor="t"/>
          <a:lstStyle/>
          <a:p>
            <a:pPr indent="0" marL="0">
              <a:buNone/>
            </a:pPr>
            <a:r>
              <a:rPr lang="en-US" sz="1300" dirty="0">
                <a:solidFill>
                  <a:srgbClr val="17212B"/>
                </a:solidFill>
                <a:latin typeface="Calibri" pitchFamily="34" charset="0"/>
                <a:ea typeface="Calibri" pitchFamily="34" charset="-122"/>
                <a:cs typeface="Calibri" pitchFamily="34" charset="-120"/>
              </a:rPr>
              <a:t>This was not found in the policy.</a:t>
            </a:r>
            <a:endParaRPr lang="en-US" sz="1300" dirty="0"/>
          </a:p>
        </p:txBody>
      </p:sp>
      <p:sp>
        <p:nvSpPr>
          <p:cNvPr id="33" name="Text 31"/>
          <p:cNvSpPr txBox="1"/>
          <p:nvPr/>
        </p:nvSpPr>
        <p:spPr>
          <a:xfrm>
            <a:off x="4846320" y="3767328"/>
            <a:ext cx="3657600" cy="365760"/>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An answer whose quote cannot be found is dropped, not shown.</a:t>
            </a:r>
            <a:endParaRPr lang="en-US" sz="1050" dirty="0"/>
          </a:p>
        </p:txBody>
      </p:sp>
      <p:sp>
        <p:nvSpPr>
          <p:cNvPr id="34" name="Text 32"/>
          <p:cNvSpPr txBox="1"/>
          <p:nvPr/>
        </p:nvSpPr>
        <p:spPr>
          <a:xfrm>
            <a:off x="457200" y="4370832"/>
            <a:ext cx="8229600" cy="228600"/>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Sample policy: 6 pages, 29 chunks, 28 section labels. The index is saved and reused until the file changes.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LIVE DEMO</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One clean claim, start to finish</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298448"/>
            <a:ext cx="310896" cy="310896"/>
          </a:xfrm>
          <a:prstGeom prst="ellipse">
            <a:avLst/>
          </a:prstGeom>
          <a:solidFill>
            <a:srgbClr val="1D5C73"/>
          </a:solidFill>
          <a:ln w="12700">
            <a:solidFill>
              <a:srgbClr val="1D5C73"/>
            </a:solidFill>
            <a:prstDash val="solid"/>
          </a:ln>
        </p:spPr>
      </p:sp>
      <p:sp>
        <p:nvSpPr>
          <p:cNvPr id="7" name="Text 5"/>
          <p:cNvSpPr txBox="1"/>
          <p:nvPr/>
        </p:nvSpPr>
        <p:spPr>
          <a:xfrm>
            <a:off x="457200"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914400" y="1298448"/>
            <a:ext cx="4480560" cy="347472"/>
          </a:xfrm>
          <a:prstGeom prst="rect">
            <a:avLst/>
          </a:prstGeom>
          <a:noFill/>
          <a:ln/>
        </p:spPr>
        <p:txBody>
          <a:bodyPr wrap="square" lIns="0" tIns="0" rIns="0" bIns="0" rtlCol="0" anchor="ctr"/>
          <a:lstStyle/>
          <a:p>
            <a:pPr indent="0" marL="0">
              <a:buNone/>
            </a:pPr>
            <a:r>
              <a:rPr lang="en-US" sz="1200" dirty="0">
                <a:solidFill>
                  <a:srgbClr val="17212B"/>
                </a:solidFill>
                <a:latin typeface="Calibri" pitchFamily="34" charset="0"/>
                <a:ea typeface="Calibri" pitchFamily="34" charset="-122"/>
                <a:cs typeface="Calibri" pitchFamily="34" charset="-120"/>
              </a:rPr>
              <a:t>Load the demo claim: four readable documents attached</a:t>
            </a:r>
            <a:endParaRPr lang="en-US" sz="1200" dirty="0"/>
          </a:p>
        </p:txBody>
      </p:sp>
      <p:sp>
        <p:nvSpPr>
          <p:cNvPr id="9" name="Shape 7"/>
          <p:cNvSpPr/>
          <p:nvPr/>
        </p:nvSpPr>
        <p:spPr>
          <a:xfrm>
            <a:off x="457200" y="1719072"/>
            <a:ext cx="310896" cy="310896"/>
          </a:xfrm>
          <a:prstGeom prst="ellipse">
            <a:avLst/>
          </a:prstGeom>
          <a:solidFill>
            <a:srgbClr val="1D5C73"/>
          </a:solidFill>
          <a:ln w="12700">
            <a:solidFill>
              <a:srgbClr val="1D5C73"/>
            </a:solidFill>
            <a:prstDash val="solid"/>
          </a:ln>
        </p:spPr>
      </p:sp>
      <p:sp>
        <p:nvSpPr>
          <p:cNvPr id="10" name="Text 8"/>
          <p:cNvSpPr txBox="1"/>
          <p:nvPr/>
        </p:nvSpPr>
        <p:spPr>
          <a:xfrm>
            <a:off x="457200" y="17190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14400" y="1719072"/>
            <a:ext cx="4480560" cy="347472"/>
          </a:xfrm>
          <a:prstGeom prst="rect">
            <a:avLst/>
          </a:prstGeom>
          <a:noFill/>
          <a:ln/>
        </p:spPr>
        <p:txBody>
          <a:bodyPr wrap="square" lIns="0" tIns="0" rIns="0" bIns="0" rtlCol="0" anchor="ctr"/>
          <a:lstStyle/>
          <a:p>
            <a:pPr indent="0" marL="0">
              <a:buNone/>
            </a:pPr>
            <a:r>
              <a:rPr lang="en-US" sz="1200" dirty="0">
                <a:solidFill>
                  <a:srgbClr val="17212B"/>
                </a:solidFill>
                <a:latin typeface="Calibri" pitchFamily="34" charset="0"/>
                <a:ea typeface="Calibri" pitchFamily="34" charset="-122"/>
                <a:cs typeface="Calibri" pitchFamily="34" charset="-120"/>
              </a:rPr>
              <a:t>Run seven agents: live trace, four possible outcomes</a:t>
            </a:r>
            <a:endParaRPr lang="en-US" sz="1200" dirty="0"/>
          </a:p>
        </p:txBody>
      </p:sp>
      <p:sp>
        <p:nvSpPr>
          <p:cNvPr id="12" name="Shape 10"/>
          <p:cNvSpPr/>
          <p:nvPr/>
        </p:nvSpPr>
        <p:spPr>
          <a:xfrm>
            <a:off x="457200" y="2139696"/>
            <a:ext cx="310896" cy="310896"/>
          </a:xfrm>
          <a:prstGeom prst="ellipse">
            <a:avLst/>
          </a:prstGeom>
          <a:solidFill>
            <a:srgbClr val="1D5C73"/>
          </a:solidFill>
          <a:ln w="12700">
            <a:solidFill>
              <a:srgbClr val="1D5C73"/>
            </a:solidFill>
            <a:prstDash val="solid"/>
          </a:ln>
        </p:spPr>
      </p:sp>
      <p:sp>
        <p:nvSpPr>
          <p:cNvPr id="13" name="Text 11"/>
          <p:cNvSpPr txBox="1"/>
          <p:nvPr/>
        </p:nvSpPr>
        <p:spPr>
          <a:xfrm>
            <a:off x="457200" y="21396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914400" y="2139696"/>
            <a:ext cx="4480560" cy="347472"/>
          </a:xfrm>
          <a:prstGeom prst="rect">
            <a:avLst/>
          </a:prstGeom>
          <a:noFill/>
          <a:ln/>
        </p:spPr>
        <p:txBody>
          <a:bodyPr wrap="square" lIns="0" tIns="0" rIns="0" bIns="0" rtlCol="0" anchor="ctr"/>
          <a:lstStyle/>
          <a:p>
            <a:pPr indent="0" marL="0">
              <a:buNone/>
            </a:pPr>
            <a:r>
              <a:rPr lang="en-US" sz="1200" dirty="0">
                <a:solidFill>
                  <a:srgbClr val="17212B"/>
                </a:solidFill>
                <a:latin typeface="Calibri" pitchFamily="34" charset="0"/>
                <a:ea typeface="Calibri" pitchFamily="34" charset="-122"/>
                <a:cs typeface="Calibri" pitchFamily="34" charset="-120"/>
              </a:rPr>
              <a:t>Policy RAG: deductible 25,000 on page 3, Section 4</a:t>
            </a:r>
            <a:endParaRPr lang="en-US" sz="1200" dirty="0"/>
          </a:p>
        </p:txBody>
      </p:sp>
      <p:sp>
        <p:nvSpPr>
          <p:cNvPr id="15" name="Shape 13"/>
          <p:cNvSpPr/>
          <p:nvPr/>
        </p:nvSpPr>
        <p:spPr>
          <a:xfrm>
            <a:off x="457200" y="2560320"/>
            <a:ext cx="310896" cy="310896"/>
          </a:xfrm>
          <a:prstGeom prst="ellipse">
            <a:avLst/>
          </a:prstGeom>
          <a:solidFill>
            <a:srgbClr val="1D5C73"/>
          </a:solidFill>
          <a:ln w="12700">
            <a:solidFill>
              <a:srgbClr val="1D5C73"/>
            </a:solidFill>
            <a:prstDash val="solid"/>
          </a:ln>
        </p:spPr>
      </p:sp>
      <p:sp>
        <p:nvSpPr>
          <p:cNvPr id="16" name="Text 14"/>
          <p:cNvSpPr txBox="1"/>
          <p:nvPr/>
        </p:nvSpPr>
        <p:spPr>
          <a:xfrm>
            <a:off x="457200" y="25603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txBox="1"/>
          <p:nvPr/>
        </p:nvSpPr>
        <p:spPr>
          <a:xfrm>
            <a:off x="914400" y="2560320"/>
            <a:ext cx="4480560" cy="347472"/>
          </a:xfrm>
          <a:prstGeom prst="rect">
            <a:avLst/>
          </a:prstGeom>
          <a:noFill/>
          <a:ln/>
        </p:spPr>
        <p:txBody>
          <a:bodyPr wrap="square" lIns="0" tIns="0" rIns="0" bIns="0" rtlCol="0" anchor="ctr"/>
          <a:lstStyle/>
          <a:p>
            <a:pPr indent="0" marL="0">
              <a:buNone/>
            </a:pPr>
            <a:r>
              <a:rPr lang="en-US" sz="1200" dirty="0">
                <a:solidFill>
                  <a:srgbClr val="17212B"/>
                </a:solidFill>
                <a:latin typeface="Calibri" pitchFamily="34" charset="0"/>
                <a:ea typeface="Calibri" pitchFamily="34" charset="-122"/>
                <a:cs typeface="Calibri" pitchFamily="34" charset="-120"/>
              </a:rPr>
              <a:t>Evidence 4 of 4 present. Risk: every planned check ran</a:t>
            </a:r>
            <a:endParaRPr lang="en-US" sz="1200" dirty="0"/>
          </a:p>
        </p:txBody>
      </p:sp>
      <p:sp>
        <p:nvSpPr>
          <p:cNvPr id="18" name="Shape 16"/>
          <p:cNvSpPr/>
          <p:nvPr/>
        </p:nvSpPr>
        <p:spPr>
          <a:xfrm>
            <a:off x="457200" y="2980944"/>
            <a:ext cx="310896" cy="310896"/>
          </a:xfrm>
          <a:prstGeom prst="ellipse">
            <a:avLst/>
          </a:prstGeom>
          <a:solidFill>
            <a:srgbClr val="1D5C73"/>
          </a:solidFill>
          <a:ln w="12700">
            <a:solidFill>
              <a:srgbClr val="1D5C73"/>
            </a:solidFill>
            <a:prstDash val="solid"/>
          </a:ln>
        </p:spPr>
      </p:sp>
      <p:sp>
        <p:nvSpPr>
          <p:cNvPr id="19" name="Text 17"/>
          <p:cNvSpPr txBox="1"/>
          <p:nvPr/>
        </p:nvSpPr>
        <p:spPr>
          <a:xfrm>
            <a:off x="457200" y="29809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txBox="1"/>
          <p:nvPr/>
        </p:nvSpPr>
        <p:spPr>
          <a:xfrm>
            <a:off x="914400" y="2980944"/>
            <a:ext cx="4480560" cy="347472"/>
          </a:xfrm>
          <a:prstGeom prst="rect">
            <a:avLst/>
          </a:prstGeom>
          <a:noFill/>
          <a:ln/>
        </p:spPr>
        <p:txBody>
          <a:bodyPr wrap="square" lIns="0" tIns="0" rIns="0" bIns="0" rtlCol="0" anchor="ctr"/>
          <a:lstStyle/>
          <a:p>
            <a:pPr indent="0" marL="0">
              <a:buNone/>
            </a:pPr>
            <a:r>
              <a:rPr lang="en-US" sz="1200" dirty="0">
                <a:solidFill>
                  <a:srgbClr val="17212B"/>
                </a:solidFill>
                <a:latin typeface="Calibri" pitchFamily="34" charset="0"/>
                <a:ea typeface="Calibri" pitchFamily="34" charset="-122"/>
                <a:cs typeface="Calibri" pitchFamily="34" charset="-120"/>
              </a:rPr>
              <a:t>Calculation in code: 185,000 minus 25,000 gives 160,000.00</a:t>
            </a:r>
            <a:endParaRPr lang="en-US" sz="1200" dirty="0"/>
          </a:p>
        </p:txBody>
      </p:sp>
      <p:sp>
        <p:nvSpPr>
          <p:cNvPr id="21" name="Shape 19"/>
          <p:cNvSpPr/>
          <p:nvPr/>
        </p:nvSpPr>
        <p:spPr>
          <a:xfrm>
            <a:off x="457200" y="3401568"/>
            <a:ext cx="310896" cy="310896"/>
          </a:xfrm>
          <a:prstGeom prst="ellipse">
            <a:avLst/>
          </a:prstGeom>
          <a:solidFill>
            <a:srgbClr val="1D5C73"/>
          </a:solidFill>
          <a:ln w="12700">
            <a:solidFill>
              <a:srgbClr val="1D5C73"/>
            </a:solidFill>
            <a:prstDash val="solid"/>
          </a:ln>
        </p:spPr>
      </p:sp>
      <p:sp>
        <p:nvSpPr>
          <p:cNvPr id="22" name="Text 20"/>
          <p:cNvSpPr txBox="1"/>
          <p:nvPr/>
        </p:nvSpPr>
        <p:spPr>
          <a:xfrm>
            <a:off x="457200" y="34015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1"/>
          <p:cNvSpPr txBox="1"/>
          <p:nvPr/>
        </p:nvSpPr>
        <p:spPr>
          <a:xfrm>
            <a:off x="914400" y="3401568"/>
            <a:ext cx="4480560" cy="347472"/>
          </a:xfrm>
          <a:prstGeom prst="rect">
            <a:avLst/>
          </a:prstGeom>
          <a:noFill/>
          <a:ln/>
        </p:spPr>
        <p:txBody>
          <a:bodyPr wrap="square" lIns="0" tIns="0" rIns="0" bIns="0" rtlCol="0" anchor="ctr"/>
          <a:lstStyle/>
          <a:p>
            <a:pPr indent="0" marL="0">
              <a:buNone/>
            </a:pPr>
            <a:r>
              <a:rPr lang="en-US" sz="1200" dirty="0">
                <a:solidFill>
                  <a:srgbClr val="17212B"/>
                </a:solidFill>
                <a:latin typeface="Calibri" pitchFamily="34" charset="0"/>
                <a:ea typeface="Calibri" pitchFamily="34" charset="-122"/>
                <a:cs typeface="Calibri" pitchFamily="34" charset="-120"/>
              </a:rPr>
              <a:t>Human review: a person approves, beside the AI recommendation</a:t>
            </a:r>
            <a:endParaRPr lang="en-US" sz="1200" dirty="0"/>
          </a:p>
        </p:txBody>
      </p:sp>
      <p:sp>
        <p:nvSpPr>
          <p:cNvPr id="24" name="Shape 22"/>
          <p:cNvSpPr/>
          <p:nvPr/>
        </p:nvSpPr>
        <p:spPr>
          <a:xfrm>
            <a:off x="457200" y="3822192"/>
            <a:ext cx="310896" cy="310896"/>
          </a:xfrm>
          <a:prstGeom prst="ellipse">
            <a:avLst/>
          </a:prstGeom>
          <a:solidFill>
            <a:srgbClr val="1D5C73"/>
          </a:solidFill>
          <a:ln w="12700">
            <a:solidFill>
              <a:srgbClr val="1D5C73"/>
            </a:solidFill>
            <a:prstDash val="solid"/>
          </a:ln>
        </p:spPr>
      </p:sp>
      <p:sp>
        <p:nvSpPr>
          <p:cNvPr id="25" name="Text 23"/>
          <p:cNvSpPr txBox="1"/>
          <p:nvPr/>
        </p:nvSpPr>
        <p:spPr>
          <a:xfrm>
            <a:off x="457200" y="3822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6" name="Text 24"/>
          <p:cNvSpPr txBox="1"/>
          <p:nvPr/>
        </p:nvSpPr>
        <p:spPr>
          <a:xfrm>
            <a:off x="914400" y="3822192"/>
            <a:ext cx="4480560" cy="347472"/>
          </a:xfrm>
          <a:prstGeom prst="rect">
            <a:avLst/>
          </a:prstGeom>
          <a:noFill/>
          <a:ln/>
        </p:spPr>
        <p:txBody>
          <a:bodyPr wrap="square" lIns="0" tIns="0" rIns="0" bIns="0" rtlCol="0" anchor="ctr"/>
          <a:lstStyle/>
          <a:p>
            <a:pPr indent="0" marL="0">
              <a:buNone/>
            </a:pPr>
            <a:r>
              <a:rPr lang="en-US" sz="1200" dirty="0">
                <a:solidFill>
                  <a:srgbClr val="17212B"/>
                </a:solidFill>
                <a:latin typeface="Calibri" pitchFamily="34" charset="0"/>
                <a:ea typeface="Calibri" pitchFamily="34" charset="-122"/>
                <a:cs typeface="Calibri" pitchFamily="34" charset="-120"/>
              </a:rPr>
              <a:t>Claim package PDF: decision, citations, working, audit trail</a:t>
            </a:r>
            <a:endParaRPr lang="en-US" sz="1200" dirty="0"/>
          </a:p>
        </p:txBody>
      </p:sp>
      <p:sp>
        <p:nvSpPr>
          <p:cNvPr id="27" name="Shape 25"/>
          <p:cNvSpPr/>
          <p:nvPr/>
        </p:nvSpPr>
        <p:spPr>
          <a:xfrm>
            <a:off x="457200" y="4297680"/>
            <a:ext cx="4937760" cy="384048"/>
          </a:xfrm>
          <a:prstGeom prst="roundRect">
            <a:avLst>
              <a:gd name="adj" fmla="val 16667"/>
            </a:avLst>
          </a:prstGeom>
          <a:solidFill>
            <a:srgbClr val="FBF0D9"/>
          </a:solidFill>
          <a:ln w="12700">
            <a:solidFill>
              <a:srgbClr val="EBD29B"/>
            </a:solidFill>
            <a:prstDash val="solid"/>
          </a:ln>
        </p:spPr>
      </p:sp>
      <p:sp>
        <p:nvSpPr>
          <p:cNvPr id="28" name="Text 26"/>
          <p:cNvSpPr txBox="1"/>
          <p:nvPr/>
        </p:nvSpPr>
        <p:spPr>
          <a:xfrm>
            <a:off x="566928" y="4297680"/>
            <a:ext cx="4754880" cy="384048"/>
          </a:xfrm>
          <a:prstGeom prst="rect">
            <a:avLst/>
          </a:prstGeom>
          <a:noFill/>
          <a:ln/>
        </p:spPr>
        <p:txBody>
          <a:bodyPr wrap="square" lIns="0" tIns="0" rIns="0" bIns="0" rtlCol="0" anchor="ctr"/>
          <a:lstStyle/>
          <a:p>
            <a:pPr indent="0" marL="0">
              <a:buNone/>
            </a:pPr>
            <a:r>
              <a:rPr lang="en-US" sz="950" dirty="0">
                <a:solidFill>
                  <a:srgbClr val="8A5A00"/>
                </a:solidFill>
                <a:latin typeface="Calibri" pitchFamily="34" charset="0"/>
                <a:ea typeface="Calibri" pitchFamily="34" charset="-122"/>
                <a:cs typeface="Calibri" pitchFamily="34" charset="-120"/>
              </a:rPr>
              <a:t>Demo Mode note: the damage step is a limited demo analysis. It reads file names and basic image checks, not the photo.</a:t>
            </a:r>
            <a:endParaRPr lang="en-US" sz="950" dirty="0"/>
          </a:p>
        </p:txBody>
      </p:sp>
      <p:pic>
        <p:nvPicPr>
          <p:cNvPr id="29" name="Image 0" descr="The claim package PDF generated for the demo claim">    </p:cNvPr>
          <p:cNvPicPr>
            <a:picLocks noChangeAspect="1"/>
          </p:cNvPicPr>
          <p:nvPr/>
        </p:nvPicPr>
        <p:blipFill>
          <a:blip r:embed="rId1"/>
          <a:stretch>
            <a:fillRect/>
          </a:stretch>
        </p:blipFill>
        <p:spPr>
          <a:xfrm>
            <a:off x="5806440" y="1234440"/>
            <a:ext cx="2880360" cy="3277751"/>
          </a:xfrm>
          <a:prstGeom prst="rect">
            <a:avLst/>
          </a:prstGeom>
          <a:effectLst>
            <a:outerShdw sx="100000" sy="100000" kx="0" ky="0" algn="bl" rotWithShape="0" blurRad="127000" dist="38100" dir="5400000">
              <a:srgbClr val="000000">
                <a:alpha val="25000"/>
              </a:srgbClr>
            </a:outerShdw>
          </a:effectLst>
        </p:spPr>
      </p:pic>
      <p:sp>
        <p:nvSpPr>
          <p:cNvPr id="30" name="Text 27"/>
          <p:cNvSpPr txBox="1"/>
          <p:nvPr/>
        </p:nvSpPr>
        <p:spPr>
          <a:xfrm>
            <a:off x="5806440" y="4590288"/>
            <a:ext cx="2880360" cy="182880"/>
          </a:xfrm>
          <a:prstGeom prst="rect">
            <a:avLst/>
          </a:prstGeom>
          <a:noFill/>
          <a:ln/>
        </p:spPr>
        <p:txBody>
          <a:bodyPr wrap="square" lIns="0" tIns="0" rIns="0" bIns="0" rtlCol="0" anchor="t"/>
          <a:lstStyle/>
          <a:p>
            <a:pPr algn="ctr" indent="0" marL="0">
              <a:buNone/>
            </a:pPr>
            <a:r>
              <a:rPr lang="en-US" sz="900" dirty="0">
                <a:solidFill>
                  <a:srgbClr val="5B6670"/>
                </a:solidFill>
                <a:latin typeface="Calibri" pitchFamily="34" charset="0"/>
                <a:ea typeface="Calibri" pitchFamily="34" charset="-122"/>
                <a:cs typeface="Calibri" pitchFamily="34" charset="-120"/>
              </a:rPr>
              <a:t>Real output: the package generated for this claim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HUMAN IN THE LOOP AND RESPONSIBLE AI</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A person decides, and the AI has guardrails</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457200" y="1280160"/>
            <a:ext cx="4023360" cy="713232"/>
          </a:xfrm>
          <a:prstGeom prst="roundRect">
            <a:avLst>
              <a:gd name="adj" fmla="val 8974"/>
            </a:avLst>
          </a:prstGeom>
          <a:solidFill>
            <a:srgbClr val="E1EEF3"/>
          </a:solidFill>
          <a:ln w="15875">
            <a:solidFill>
              <a:srgbClr val="1D5C73"/>
            </a:solidFill>
            <a:prstDash val="solid"/>
          </a:ln>
        </p:spPr>
      </p:sp>
      <p:sp>
        <p:nvSpPr>
          <p:cNvPr id="7" name="Text 5"/>
          <p:cNvSpPr txBox="1"/>
          <p:nvPr/>
        </p:nvSpPr>
        <p:spPr>
          <a:xfrm>
            <a:off x="594360" y="1353312"/>
            <a:ext cx="3749040" cy="182880"/>
          </a:xfrm>
          <a:prstGeom prst="rect">
            <a:avLst/>
          </a:prstGeom>
          <a:noFill/>
          <a:ln/>
        </p:spPr>
        <p:txBody>
          <a:bodyPr wrap="square" lIns="0" tIns="0" rIns="0" bIns="0" rtlCol="0" anchor="t"/>
          <a:lstStyle/>
          <a:p>
            <a:pPr indent="0" marL="0">
              <a:buNone/>
            </a:pPr>
            <a:r>
              <a:rPr lang="en-US" sz="950" b="1" spc="100" kern="0" dirty="0">
                <a:solidFill>
                  <a:srgbClr val="1D5C73"/>
                </a:solidFill>
                <a:latin typeface="Calibri" pitchFamily="34" charset="0"/>
                <a:ea typeface="Calibri" pitchFamily="34" charset="-122"/>
                <a:cs typeface="Calibri" pitchFamily="34" charset="-120"/>
              </a:rPr>
              <a:t>AI RECOMMENDATION</a:t>
            </a:r>
            <a:endParaRPr lang="en-US" sz="950" dirty="0"/>
          </a:p>
        </p:txBody>
      </p:sp>
      <p:sp>
        <p:nvSpPr>
          <p:cNvPr id="8" name="Text 6"/>
          <p:cNvSpPr txBox="1"/>
          <p:nvPr/>
        </p:nvSpPr>
        <p:spPr>
          <a:xfrm>
            <a:off x="594360" y="1572768"/>
            <a:ext cx="3749040" cy="320040"/>
          </a:xfrm>
          <a:prstGeom prst="rect">
            <a:avLst/>
          </a:prstGeom>
          <a:noFill/>
          <a:ln/>
        </p:spPr>
        <p:txBody>
          <a:bodyPr wrap="square" lIns="0" tIns="0" rIns="0" bIns="0" rtlCol="0" anchor="t"/>
          <a:lstStyle/>
          <a:p>
            <a:pPr indent="0" marL="0">
              <a:buNone/>
            </a:pPr>
            <a:r>
              <a:rPr lang="en-US" sz="1500" b="1" dirty="0">
                <a:solidFill>
                  <a:srgbClr val="17212B"/>
                </a:solidFill>
                <a:latin typeface="Calibri" pitchFamily="34" charset="0"/>
                <a:ea typeface="Calibri" pitchFamily="34" charset="-122"/>
                <a:cs typeface="Calibri" pitchFamily="34" charset="-120"/>
              </a:rPr>
              <a:t>Approve for Processing  (advice only)</a:t>
            </a:r>
            <a:endParaRPr lang="en-US" sz="1500" dirty="0"/>
          </a:p>
        </p:txBody>
      </p:sp>
      <p:sp>
        <p:nvSpPr>
          <p:cNvPr id="9" name="Shape 7"/>
          <p:cNvSpPr/>
          <p:nvPr/>
        </p:nvSpPr>
        <p:spPr>
          <a:xfrm>
            <a:off x="457200" y="2084832"/>
            <a:ext cx="4023360" cy="713232"/>
          </a:xfrm>
          <a:prstGeom prst="roundRect">
            <a:avLst>
              <a:gd name="adj" fmla="val 8974"/>
            </a:avLst>
          </a:prstGeom>
          <a:solidFill>
            <a:srgbClr val="FBF0D9"/>
          </a:solidFill>
          <a:ln w="15875">
            <a:solidFill>
              <a:srgbClr val="B7791F"/>
            </a:solidFill>
            <a:prstDash val="solid"/>
          </a:ln>
        </p:spPr>
      </p:sp>
      <p:sp>
        <p:nvSpPr>
          <p:cNvPr id="10" name="Text 8"/>
          <p:cNvSpPr txBox="1"/>
          <p:nvPr/>
        </p:nvSpPr>
        <p:spPr>
          <a:xfrm>
            <a:off x="594360" y="2157984"/>
            <a:ext cx="3749040" cy="182880"/>
          </a:xfrm>
          <a:prstGeom prst="rect">
            <a:avLst/>
          </a:prstGeom>
          <a:noFill/>
          <a:ln/>
        </p:spPr>
        <p:txBody>
          <a:bodyPr wrap="square" lIns="0" tIns="0" rIns="0" bIns="0" rtlCol="0" anchor="t"/>
          <a:lstStyle/>
          <a:p>
            <a:pPr indent="0" marL="0">
              <a:buNone/>
            </a:pPr>
            <a:r>
              <a:rPr lang="en-US" sz="950" b="1" spc="100" kern="0" dirty="0">
                <a:solidFill>
                  <a:srgbClr val="8A5A00"/>
                </a:solidFill>
                <a:latin typeface="Calibri" pitchFamily="34" charset="0"/>
                <a:ea typeface="Calibri" pitchFamily="34" charset="-122"/>
                <a:cs typeface="Calibri" pitchFamily="34" charset="-120"/>
              </a:rPr>
              <a:t>HUMAN DECISION</a:t>
            </a:r>
            <a:endParaRPr lang="en-US" sz="950" dirty="0"/>
          </a:p>
        </p:txBody>
      </p:sp>
      <p:sp>
        <p:nvSpPr>
          <p:cNvPr id="11" name="Text 9"/>
          <p:cNvSpPr txBox="1"/>
          <p:nvPr/>
        </p:nvSpPr>
        <p:spPr>
          <a:xfrm>
            <a:off x="594360" y="2377440"/>
            <a:ext cx="3749040" cy="320040"/>
          </a:xfrm>
          <a:prstGeom prst="rect">
            <a:avLst/>
          </a:prstGeom>
          <a:noFill/>
          <a:ln/>
        </p:spPr>
        <p:txBody>
          <a:bodyPr wrap="square" lIns="0" tIns="0" rIns="0" bIns="0" rtlCol="0" anchor="t"/>
          <a:lstStyle/>
          <a:p>
            <a:pPr indent="0" marL="0">
              <a:buNone/>
            </a:pPr>
            <a:r>
              <a:rPr lang="en-US" sz="1500" b="1" dirty="0">
                <a:solidFill>
                  <a:srgbClr val="17212B"/>
                </a:solidFill>
                <a:latin typeface="Calibri" pitchFamily="34" charset="0"/>
                <a:ea typeface="Calibri" pitchFamily="34" charset="-122"/>
                <a:cs typeface="Calibri" pitchFamily="34" charset="-120"/>
              </a:rPr>
              <a:t>Pending, until a person decides</a:t>
            </a:r>
            <a:endParaRPr lang="en-US" sz="1500" dirty="0"/>
          </a:p>
        </p:txBody>
      </p:sp>
      <p:sp>
        <p:nvSpPr>
          <p:cNvPr id="12" name="Text 10"/>
          <p:cNvSpPr txBox="1"/>
          <p:nvPr/>
        </p:nvSpPr>
        <p:spPr>
          <a:xfrm>
            <a:off x="457200" y="2971800"/>
            <a:ext cx="4023360" cy="15544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Only a person can approve, request information or escalate</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Overriding the AI needs a written reason</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The AI's recommendation is stored with the decision</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The package is a draft until a person decides</a:t>
            </a:r>
            <a:endParaRPr lang="en-US" sz="1200" dirty="0"/>
          </a:p>
        </p:txBody>
      </p:sp>
      <p:sp>
        <p:nvSpPr>
          <p:cNvPr id="13" name="Text 11"/>
          <p:cNvSpPr txBox="1"/>
          <p:nvPr/>
        </p:nvSpPr>
        <p:spPr>
          <a:xfrm>
            <a:off x="4754880" y="1280160"/>
            <a:ext cx="3931920" cy="274320"/>
          </a:xfrm>
          <a:prstGeom prst="rect">
            <a:avLst/>
          </a:prstGeom>
          <a:noFill/>
          <a:ln/>
        </p:spPr>
        <p:txBody>
          <a:bodyPr wrap="square" lIns="0" tIns="0" rIns="0" bIns="0" rtlCol="0" anchor="t"/>
          <a:lstStyle/>
          <a:p>
            <a:pPr indent="0" marL="0">
              <a:buNone/>
            </a:pPr>
            <a:r>
              <a:rPr lang="en-US" sz="1400" b="1" dirty="0">
                <a:solidFill>
                  <a:srgbClr val="1D5C73"/>
                </a:solidFill>
                <a:latin typeface="Calibri" pitchFamily="34" charset="0"/>
                <a:ea typeface="Calibri" pitchFamily="34" charset="-122"/>
                <a:cs typeface="Calibri" pitchFamily="34" charset="-120"/>
              </a:rPr>
              <a:t>Responsible AI controls</a:t>
            </a:r>
            <a:endParaRPr lang="en-US" sz="1400" dirty="0"/>
          </a:p>
        </p:txBody>
      </p:sp>
      <p:sp>
        <p:nvSpPr>
          <p:cNvPr id="14" name="Text 12"/>
          <p:cNvSpPr txBox="1"/>
          <p:nvPr/>
        </p:nvSpPr>
        <p:spPr>
          <a:xfrm>
            <a:off x="4754880" y="1645920"/>
            <a:ext cx="3931920" cy="29260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Policy quotes are checked word for word</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Amounts are calculated by code, never by a model</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Risk analysis never judges honesty. A wording guard blocks accusations</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Text inside documents is untrusted. Hidden instructions are reported, not followed</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Uploads are checked for type, size and real content</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Demo Mode and its limited photo analysis are labelled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TECHNOLOGY STACK</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Plain Python, local data, swappable AI models</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457200" y="1371600"/>
            <a:ext cx="2651760" cy="1417320"/>
          </a:xfrm>
          <a:prstGeom prst="roundRect">
            <a:avLst>
              <a:gd name="adj" fmla="val 4516"/>
            </a:avLst>
          </a:prstGeom>
          <a:solidFill>
            <a:srgbClr val="FFFFFF"/>
          </a:solidFill>
          <a:ln w="12700">
            <a:solidFill>
              <a:srgbClr val="C9D1D6"/>
            </a:solidFill>
            <a:prstDash val="solid"/>
          </a:ln>
        </p:spPr>
      </p:sp>
      <p:sp>
        <p:nvSpPr>
          <p:cNvPr id="7" name="Text 5"/>
          <p:cNvSpPr txBox="1"/>
          <p:nvPr/>
        </p:nvSpPr>
        <p:spPr>
          <a:xfrm>
            <a:off x="621792" y="1508760"/>
            <a:ext cx="2331720" cy="274320"/>
          </a:xfrm>
          <a:prstGeom prst="rect">
            <a:avLst/>
          </a:prstGeom>
          <a:noFill/>
          <a:ln/>
        </p:spPr>
        <p:txBody>
          <a:bodyPr wrap="square" lIns="0" tIns="0" rIns="0" bIns="0" rtlCol="0" anchor="t"/>
          <a:lstStyle/>
          <a:p>
            <a:pPr indent="0" marL="0">
              <a:buNone/>
            </a:pPr>
            <a:r>
              <a:rPr lang="en-US" sz="1400" b="1" dirty="0">
                <a:solidFill>
                  <a:srgbClr val="1D5C73"/>
                </a:solidFill>
                <a:latin typeface="Calibri" pitchFamily="34" charset="0"/>
                <a:ea typeface="Calibri" pitchFamily="34" charset="-122"/>
                <a:cs typeface="Calibri" pitchFamily="34" charset="-120"/>
              </a:rPr>
              <a:t>Interface</a:t>
            </a:r>
            <a:endParaRPr lang="en-US" sz="1400" dirty="0"/>
          </a:p>
        </p:txBody>
      </p:sp>
      <p:sp>
        <p:nvSpPr>
          <p:cNvPr id="8" name="Text 6"/>
          <p:cNvSpPr txBox="1"/>
          <p:nvPr/>
        </p:nvSpPr>
        <p:spPr>
          <a:xfrm>
            <a:off x="621792" y="1874520"/>
            <a:ext cx="2331720" cy="868680"/>
          </a:xfrm>
          <a:prstGeom prst="rect">
            <a:avLst/>
          </a:prstGeom>
          <a:noFill/>
          <a:ln/>
        </p:spPr>
        <p:txBody>
          <a:bodyPr wrap="square" lIns="0" tIns="0" rIns="0" bIns="0" rtlCol="0" anchor="t"/>
          <a:lstStyle/>
          <a:p>
            <a:pPr indent="0" marL="0">
              <a:buNone/>
            </a:pPr>
            <a:r>
              <a:rPr lang="en-US" sz="1150" dirty="0">
                <a:solidFill>
                  <a:srgbClr val="17212B"/>
                </a:solidFill>
                <a:latin typeface="Calibri" pitchFamily="34" charset="0"/>
                <a:ea typeface="Calibri" pitchFamily="34" charset="-122"/>
                <a:cs typeface="Calibri" pitchFamily="34" charset="-120"/>
              </a:rPr>
              <a:t>Streamlit, pandas. Six pages.</a:t>
            </a:r>
            <a:endParaRPr lang="en-US" sz="1150" dirty="0"/>
          </a:p>
        </p:txBody>
      </p:sp>
      <p:sp>
        <p:nvSpPr>
          <p:cNvPr id="9" name="Shape 7"/>
          <p:cNvSpPr/>
          <p:nvPr/>
        </p:nvSpPr>
        <p:spPr>
          <a:xfrm>
            <a:off x="3246120" y="1371600"/>
            <a:ext cx="2651760" cy="1417320"/>
          </a:xfrm>
          <a:prstGeom prst="roundRect">
            <a:avLst>
              <a:gd name="adj" fmla="val 4516"/>
            </a:avLst>
          </a:prstGeom>
          <a:solidFill>
            <a:srgbClr val="FFFFFF"/>
          </a:solidFill>
          <a:ln w="12700">
            <a:solidFill>
              <a:srgbClr val="C9D1D6"/>
            </a:solidFill>
            <a:prstDash val="solid"/>
          </a:ln>
        </p:spPr>
      </p:sp>
      <p:sp>
        <p:nvSpPr>
          <p:cNvPr id="10" name="Text 8"/>
          <p:cNvSpPr txBox="1"/>
          <p:nvPr/>
        </p:nvSpPr>
        <p:spPr>
          <a:xfrm>
            <a:off x="3410712" y="1508760"/>
            <a:ext cx="2331720" cy="274320"/>
          </a:xfrm>
          <a:prstGeom prst="rect">
            <a:avLst/>
          </a:prstGeom>
          <a:noFill/>
          <a:ln/>
        </p:spPr>
        <p:txBody>
          <a:bodyPr wrap="square" lIns="0" tIns="0" rIns="0" bIns="0" rtlCol="0" anchor="t"/>
          <a:lstStyle/>
          <a:p>
            <a:pPr indent="0" marL="0">
              <a:buNone/>
            </a:pPr>
            <a:r>
              <a:rPr lang="en-US" sz="1400" b="1" dirty="0">
                <a:solidFill>
                  <a:srgbClr val="1D5C73"/>
                </a:solidFill>
                <a:latin typeface="Calibri" pitchFamily="34" charset="0"/>
                <a:ea typeface="Calibri" pitchFamily="34" charset="-122"/>
                <a:cs typeface="Calibri" pitchFamily="34" charset="-120"/>
              </a:rPr>
              <a:t>Agents and workflow</a:t>
            </a:r>
            <a:endParaRPr lang="en-US" sz="1400" dirty="0"/>
          </a:p>
        </p:txBody>
      </p:sp>
      <p:sp>
        <p:nvSpPr>
          <p:cNvPr id="11" name="Text 9"/>
          <p:cNvSpPr txBox="1"/>
          <p:nvPr/>
        </p:nvSpPr>
        <p:spPr>
          <a:xfrm>
            <a:off x="3410712" y="1874520"/>
            <a:ext cx="2331720" cy="868680"/>
          </a:xfrm>
          <a:prstGeom prst="rect">
            <a:avLst/>
          </a:prstGeom>
          <a:noFill/>
          <a:ln/>
        </p:spPr>
        <p:txBody>
          <a:bodyPr wrap="square" lIns="0" tIns="0" rIns="0" bIns="0" rtlCol="0" anchor="t"/>
          <a:lstStyle/>
          <a:p>
            <a:pPr indent="0" marL="0">
              <a:buNone/>
            </a:pPr>
            <a:r>
              <a:rPr lang="en-US" sz="1150" dirty="0">
                <a:solidFill>
                  <a:srgbClr val="17212B"/>
                </a:solidFill>
                <a:latin typeface="Calibri" pitchFamily="34" charset="0"/>
                <a:ea typeface="Calibri" pitchFamily="34" charset="-122"/>
                <a:cs typeface="Calibri" pitchFamily="34" charset="-120"/>
              </a:rPr>
              <a:t>Python 3.10+, typed dataclass schemas, a custom orchestrator.</a:t>
            </a:r>
            <a:endParaRPr lang="en-US" sz="1150" dirty="0"/>
          </a:p>
        </p:txBody>
      </p:sp>
      <p:sp>
        <p:nvSpPr>
          <p:cNvPr id="12" name="Shape 10"/>
          <p:cNvSpPr/>
          <p:nvPr/>
        </p:nvSpPr>
        <p:spPr>
          <a:xfrm>
            <a:off x="6035040" y="1371600"/>
            <a:ext cx="2651760" cy="1417320"/>
          </a:xfrm>
          <a:prstGeom prst="roundRect">
            <a:avLst>
              <a:gd name="adj" fmla="val 4516"/>
            </a:avLst>
          </a:prstGeom>
          <a:solidFill>
            <a:srgbClr val="FFFFFF"/>
          </a:solidFill>
          <a:ln w="12700">
            <a:solidFill>
              <a:srgbClr val="C9D1D6"/>
            </a:solidFill>
            <a:prstDash val="solid"/>
          </a:ln>
        </p:spPr>
      </p:sp>
      <p:sp>
        <p:nvSpPr>
          <p:cNvPr id="13" name="Text 11"/>
          <p:cNvSpPr txBox="1"/>
          <p:nvPr/>
        </p:nvSpPr>
        <p:spPr>
          <a:xfrm>
            <a:off x="6199632" y="1508760"/>
            <a:ext cx="2331720" cy="274320"/>
          </a:xfrm>
          <a:prstGeom prst="rect">
            <a:avLst/>
          </a:prstGeom>
          <a:noFill/>
          <a:ln/>
        </p:spPr>
        <p:txBody>
          <a:bodyPr wrap="square" lIns="0" tIns="0" rIns="0" bIns="0" rtlCol="0" anchor="t"/>
          <a:lstStyle/>
          <a:p>
            <a:pPr indent="0" marL="0">
              <a:buNone/>
            </a:pPr>
            <a:r>
              <a:rPr lang="en-US" sz="1400" b="1" dirty="0">
                <a:solidFill>
                  <a:srgbClr val="1D5C73"/>
                </a:solidFill>
                <a:latin typeface="Calibri" pitchFamily="34" charset="0"/>
                <a:ea typeface="Calibri" pitchFamily="34" charset="-122"/>
                <a:cs typeface="Calibri" pitchFamily="34" charset="-120"/>
              </a:rPr>
              <a:t>AI models</a:t>
            </a:r>
            <a:endParaRPr lang="en-US" sz="1400" dirty="0"/>
          </a:p>
        </p:txBody>
      </p:sp>
      <p:sp>
        <p:nvSpPr>
          <p:cNvPr id="14" name="Text 12"/>
          <p:cNvSpPr txBox="1"/>
          <p:nvPr/>
        </p:nvSpPr>
        <p:spPr>
          <a:xfrm>
            <a:off x="6199632" y="1874520"/>
            <a:ext cx="2331720" cy="868680"/>
          </a:xfrm>
          <a:prstGeom prst="rect">
            <a:avLst/>
          </a:prstGeom>
          <a:noFill/>
          <a:ln/>
        </p:spPr>
        <p:txBody>
          <a:bodyPr wrap="square" lIns="0" tIns="0" rIns="0" bIns="0" rtlCol="0" anchor="t"/>
          <a:lstStyle/>
          <a:p>
            <a:pPr indent="0" marL="0">
              <a:buNone/>
            </a:pPr>
            <a:r>
              <a:rPr lang="en-US" sz="1150" dirty="0">
                <a:solidFill>
                  <a:srgbClr val="17212B"/>
                </a:solidFill>
                <a:latin typeface="Calibri" pitchFamily="34" charset="0"/>
                <a:ea typeface="Calibri" pitchFamily="34" charset="-122"/>
                <a:cs typeface="Calibri" pitchFamily="34" charset="-120"/>
              </a:rPr>
              <a:t>Gemini, Groq or OpenRouter over REST. A scripted offline model for Demo Mode.</a:t>
            </a:r>
            <a:endParaRPr lang="en-US" sz="1150" dirty="0"/>
          </a:p>
        </p:txBody>
      </p:sp>
      <p:sp>
        <p:nvSpPr>
          <p:cNvPr id="15" name="Shape 13"/>
          <p:cNvSpPr/>
          <p:nvPr/>
        </p:nvSpPr>
        <p:spPr>
          <a:xfrm>
            <a:off x="457200" y="2926080"/>
            <a:ext cx="2651760" cy="1417320"/>
          </a:xfrm>
          <a:prstGeom prst="roundRect">
            <a:avLst>
              <a:gd name="adj" fmla="val 4516"/>
            </a:avLst>
          </a:prstGeom>
          <a:solidFill>
            <a:srgbClr val="FFFFFF"/>
          </a:solidFill>
          <a:ln w="12700">
            <a:solidFill>
              <a:srgbClr val="C9D1D6"/>
            </a:solidFill>
            <a:prstDash val="solid"/>
          </a:ln>
        </p:spPr>
      </p:sp>
      <p:sp>
        <p:nvSpPr>
          <p:cNvPr id="16" name="Text 14"/>
          <p:cNvSpPr txBox="1"/>
          <p:nvPr/>
        </p:nvSpPr>
        <p:spPr>
          <a:xfrm>
            <a:off x="621792" y="3063240"/>
            <a:ext cx="2331720" cy="274320"/>
          </a:xfrm>
          <a:prstGeom prst="rect">
            <a:avLst/>
          </a:prstGeom>
          <a:noFill/>
          <a:ln/>
        </p:spPr>
        <p:txBody>
          <a:bodyPr wrap="square" lIns="0" tIns="0" rIns="0" bIns="0" rtlCol="0" anchor="t"/>
          <a:lstStyle/>
          <a:p>
            <a:pPr indent="0" marL="0">
              <a:buNone/>
            </a:pPr>
            <a:r>
              <a:rPr lang="en-US" sz="1400" b="1" dirty="0">
                <a:solidFill>
                  <a:srgbClr val="1D5C73"/>
                </a:solidFill>
                <a:latin typeface="Calibri" pitchFamily="34" charset="0"/>
                <a:ea typeface="Calibri" pitchFamily="34" charset="-122"/>
                <a:cs typeface="Calibri" pitchFamily="34" charset="-120"/>
              </a:rPr>
              <a:t>Policy RAG</a:t>
            </a:r>
            <a:endParaRPr lang="en-US" sz="1400" dirty="0"/>
          </a:p>
        </p:txBody>
      </p:sp>
      <p:sp>
        <p:nvSpPr>
          <p:cNvPr id="17" name="Text 15"/>
          <p:cNvSpPr txBox="1"/>
          <p:nvPr/>
        </p:nvSpPr>
        <p:spPr>
          <a:xfrm>
            <a:off x="621792" y="3429000"/>
            <a:ext cx="2331720" cy="868680"/>
          </a:xfrm>
          <a:prstGeom prst="rect">
            <a:avLst/>
          </a:prstGeom>
          <a:noFill/>
          <a:ln/>
        </p:spPr>
        <p:txBody>
          <a:bodyPr wrap="square" lIns="0" tIns="0" rIns="0" bIns="0" rtlCol="0" anchor="t"/>
          <a:lstStyle/>
          <a:p>
            <a:pPr indent="0" marL="0">
              <a:buNone/>
            </a:pPr>
            <a:r>
              <a:rPr lang="en-US" sz="1150" dirty="0">
                <a:solidFill>
                  <a:srgbClr val="17212B"/>
                </a:solidFill>
                <a:latin typeface="Calibri" pitchFamily="34" charset="0"/>
                <a:ea typeface="Calibri" pitchFamily="34" charset="-122"/>
                <a:cs typeface="Calibri" pitchFamily="34" charset="-120"/>
              </a:rPr>
              <a:t>PyMuPDF (pypdf fallback), fastembed bge-small, FAISS (NumPy fallback), BM25 keyword search.</a:t>
            </a:r>
            <a:endParaRPr lang="en-US" sz="1150" dirty="0"/>
          </a:p>
        </p:txBody>
      </p:sp>
      <p:sp>
        <p:nvSpPr>
          <p:cNvPr id="18" name="Shape 16"/>
          <p:cNvSpPr/>
          <p:nvPr/>
        </p:nvSpPr>
        <p:spPr>
          <a:xfrm>
            <a:off x="3246120" y="2926080"/>
            <a:ext cx="2651760" cy="1417320"/>
          </a:xfrm>
          <a:prstGeom prst="roundRect">
            <a:avLst>
              <a:gd name="adj" fmla="val 4516"/>
            </a:avLst>
          </a:prstGeom>
          <a:solidFill>
            <a:srgbClr val="FFFFFF"/>
          </a:solidFill>
          <a:ln w="12700">
            <a:solidFill>
              <a:srgbClr val="C9D1D6"/>
            </a:solidFill>
            <a:prstDash val="solid"/>
          </a:ln>
        </p:spPr>
      </p:sp>
      <p:sp>
        <p:nvSpPr>
          <p:cNvPr id="19" name="Text 17"/>
          <p:cNvSpPr txBox="1"/>
          <p:nvPr/>
        </p:nvSpPr>
        <p:spPr>
          <a:xfrm>
            <a:off x="3410712" y="3063240"/>
            <a:ext cx="2331720" cy="274320"/>
          </a:xfrm>
          <a:prstGeom prst="rect">
            <a:avLst/>
          </a:prstGeom>
          <a:noFill/>
          <a:ln/>
        </p:spPr>
        <p:txBody>
          <a:bodyPr wrap="square" lIns="0" tIns="0" rIns="0" bIns="0" rtlCol="0" anchor="t"/>
          <a:lstStyle/>
          <a:p>
            <a:pPr indent="0" marL="0">
              <a:buNone/>
            </a:pPr>
            <a:r>
              <a:rPr lang="en-US" sz="1400" b="1" dirty="0">
                <a:solidFill>
                  <a:srgbClr val="1D5C73"/>
                </a:solidFill>
                <a:latin typeface="Calibri" pitchFamily="34" charset="0"/>
                <a:ea typeface="Calibri" pitchFamily="34" charset="-122"/>
                <a:cs typeface="Calibri" pitchFamily="34" charset="-120"/>
              </a:rPr>
              <a:t>Data and documents</a:t>
            </a:r>
            <a:endParaRPr lang="en-US" sz="1400" dirty="0"/>
          </a:p>
        </p:txBody>
      </p:sp>
      <p:sp>
        <p:nvSpPr>
          <p:cNvPr id="20" name="Text 18"/>
          <p:cNvSpPr txBox="1"/>
          <p:nvPr/>
        </p:nvSpPr>
        <p:spPr>
          <a:xfrm>
            <a:off x="3410712" y="3429000"/>
            <a:ext cx="2331720" cy="868680"/>
          </a:xfrm>
          <a:prstGeom prst="rect">
            <a:avLst/>
          </a:prstGeom>
          <a:noFill/>
          <a:ln/>
        </p:spPr>
        <p:txBody>
          <a:bodyPr wrap="square" lIns="0" tIns="0" rIns="0" bIns="0" rtlCol="0" anchor="t"/>
          <a:lstStyle/>
          <a:p>
            <a:pPr indent="0" marL="0">
              <a:buNone/>
            </a:pPr>
            <a:r>
              <a:rPr lang="en-US" sz="1150" dirty="0">
                <a:solidFill>
                  <a:srgbClr val="17212B"/>
                </a:solidFill>
                <a:latin typeface="Calibri" pitchFamily="34" charset="0"/>
                <a:ea typeface="Calibri" pitchFamily="34" charset="-122"/>
                <a:cs typeface="Calibri" pitchFamily="34" charset="-120"/>
              </a:rPr>
              <a:t>SQLite, files on disk, Pillow for images, ReportLab for the PDF.</a:t>
            </a:r>
            <a:endParaRPr lang="en-US" sz="1150" dirty="0"/>
          </a:p>
        </p:txBody>
      </p:sp>
      <p:sp>
        <p:nvSpPr>
          <p:cNvPr id="21" name="Shape 19"/>
          <p:cNvSpPr/>
          <p:nvPr/>
        </p:nvSpPr>
        <p:spPr>
          <a:xfrm>
            <a:off x="6035040" y="2926080"/>
            <a:ext cx="2651760" cy="1417320"/>
          </a:xfrm>
          <a:prstGeom prst="roundRect">
            <a:avLst>
              <a:gd name="adj" fmla="val 4516"/>
            </a:avLst>
          </a:prstGeom>
          <a:solidFill>
            <a:srgbClr val="FFFFFF"/>
          </a:solidFill>
          <a:ln w="12700">
            <a:solidFill>
              <a:srgbClr val="C9D1D6"/>
            </a:solidFill>
            <a:prstDash val="solid"/>
          </a:ln>
        </p:spPr>
      </p:sp>
      <p:sp>
        <p:nvSpPr>
          <p:cNvPr id="22" name="Text 20"/>
          <p:cNvSpPr txBox="1"/>
          <p:nvPr/>
        </p:nvSpPr>
        <p:spPr>
          <a:xfrm>
            <a:off x="6199632" y="3063240"/>
            <a:ext cx="2331720" cy="274320"/>
          </a:xfrm>
          <a:prstGeom prst="rect">
            <a:avLst/>
          </a:prstGeom>
          <a:noFill/>
          <a:ln/>
        </p:spPr>
        <p:txBody>
          <a:bodyPr wrap="square" lIns="0" tIns="0" rIns="0" bIns="0" rtlCol="0" anchor="t"/>
          <a:lstStyle/>
          <a:p>
            <a:pPr indent="0" marL="0">
              <a:buNone/>
            </a:pPr>
            <a:r>
              <a:rPr lang="en-US" sz="1400" b="1" dirty="0">
                <a:solidFill>
                  <a:srgbClr val="1D5C73"/>
                </a:solidFill>
                <a:latin typeface="Calibri" pitchFamily="34" charset="0"/>
                <a:ea typeface="Calibri" pitchFamily="34" charset="-122"/>
                <a:cs typeface="Calibri" pitchFamily="34" charset="-120"/>
              </a:rPr>
              <a:t>Quality</a:t>
            </a:r>
            <a:endParaRPr lang="en-US" sz="1400" dirty="0"/>
          </a:p>
        </p:txBody>
      </p:sp>
      <p:sp>
        <p:nvSpPr>
          <p:cNvPr id="23" name="Text 21"/>
          <p:cNvSpPr txBox="1"/>
          <p:nvPr/>
        </p:nvSpPr>
        <p:spPr>
          <a:xfrm>
            <a:off x="6199632" y="3429000"/>
            <a:ext cx="2331720" cy="868680"/>
          </a:xfrm>
          <a:prstGeom prst="rect">
            <a:avLst/>
          </a:prstGeom>
          <a:noFill/>
          <a:ln/>
        </p:spPr>
        <p:txBody>
          <a:bodyPr wrap="square" lIns="0" tIns="0" rIns="0" bIns="0" rtlCol="0" anchor="t"/>
          <a:lstStyle/>
          <a:p>
            <a:pPr indent="0" marL="0">
              <a:buNone/>
            </a:pPr>
            <a:r>
              <a:rPr lang="en-US" sz="1150" dirty="0">
                <a:solidFill>
                  <a:srgbClr val="17212B"/>
                </a:solidFill>
                <a:latin typeface="Calibri" pitchFamily="34" charset="0"/>
                <a:ea typeface="Calibri" pitchFamily="34" charset="-122"/>
                <a:cs typeface="Calibri" pitchFamily="34" charset="-120"/>
              </a:rPr>
              <a:t>338 automated tests that need no network and no API key.</a:t>
            </a:r>
            <a:endParaRPr lang="en-US" sz="1150" dirty="0"/>
          </a:p>
        </p:txBody>
      </p:sp>
      <p:sp>
        <p:nvSpPr>
          <p:cNvPr id="24" name="Text 22"/>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Configured with environment variables. Runs locally with pip install and streamlit run app.py.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BENEFITS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Consistent, traceable and under human control</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57200" y="1325880"/>
            <a:ext cx="1965960" cy="960120"/>
          </a:xfrm>
          <a:prstGeom prst="roundRect">
            <a:avLst>
              <a:gd name="adj" fmla="val 6667"/>
            </a:avLst>
          </a:prstGeom>
          <a:solidFill>
            <a:srgbClr val="E1EEF3"/>
          </a:solidFill>
          <a:ln w="12700">
            <a:solidFill>
              <a:srgbClr val="B7D3DE"/>
            </a:solidFill>
            <a:prstDash val="solid"/>
          </a:ln>
        </p:spPr>
      </p:sp>
      <p:sp>
        <p:nvSpPr>
          <p:cNvPr id="7" name="Text 5"/>
          <p:cNvSpPr txBox="1"/>
          <p:nvPr/>
        </p:nvSpPr>
        <p:spPr>
          <a:xfrm>
            <a:off x="594360" y="1371600"/>
            <a:ext cx="1737360" cy="502920"/>
          </a:xfrm>
          <a:prstGeom prst="rect">
            <a:avLst/>
          </a:prstGeom>
          <a:noFill/>
          <a:ln/>
        </p:spPr>
        <p:txBody>
          <a:bodyPr wrap="square" lIns="0" tIns="0" rIns="0" bIns="0" rtlCol="0" anchor="t"/>
          <a:lstStyle/>
          <a:p>
            <a:pPr indent="0" marL="0">
              <a:buNone/>
            </a:pPr>
            <a:r>
              <a:rPr lang="en-US" sz="3200" b="1" dirty="0">
                <a:solidFill>
                  <a:srgbClr val="1D5C73"/>
                </a:solidFill>
                <a:latin typeface="Calibri" pitchFamily="34" charset="0"/>
                <a:ea typeface="Calibri" pitchFamily="34" charset="-122"/>
                <a:cs typeface="Calibri" pitchFamily="34" charset="-120"/>
              </a:rPr>
              <a:t>7</a:t>
            </a:r>
            <a:endParaRPr lang="en-US" sz="3200" dirty="0"/>
          </a:p>
        </p:txBody>
      </p:sp>
      <p:sp>
        <p:nvSpPr>
          <p:cNvPr id="8" name="Text 6"/>
          <p:cNvSpPr txBox="1"/>
          <p:nvPr/>
        </p:nvSpPr>
        <p:spPr>
          <a:xfrm>
            <a:off x="594360" y="1874520"/>
            <a:ext cx="1737360" cy="365760"/>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agents, each with a typed output</a:t>
            </a:r>
            <a:endParaRPr lang="en-US" sz="1050" dirty="0"/>
          </a:p>
        </p:txBody>
      </p:sp>
      <p:sp>
        <p:nvSpPr>
          <p:cNvPr id="9" name="Shape 7"/>
          <p:cNvSpPr/>
          <p:nvPr/>
        </p:nvSpPr>
        <p:spPr>
          <a:xfrm>
            <a:off x="2542032" y="1325880"/>
            <a:ext cx="1965960" cy="960120"/>
          </a:xfrm>
          <a:prstGeom prst="roundRect">
            <a:avLst>
              <a:gd name="adj" fmla="val 6667"/>
            </a:avLst>
          </a:prstGeom>
          <a:solidFill>
            <a:srgbClr val="E1EEF3"/>
          </a:solidFill>
          <a:ln w="12700">
            <a:solidFill>
              <a:srgbClr val="B7D3DE"/>
            </a:solidFill>
            <a:prstDash val="solid"/>
          </a:ln>
        </p:spPr>
      </p:sp>
      <p:sp>
        <p:nvSpPr>
          <p:cNvPr id="10" name="Text 8"/>
          <p:cNvSpPr txBox="1"/>
          <p:nvPr/>
        </p:nvSpPr>
        <p:spPr>
          <a:xfrm>
            <a:off x="2679192" y="1371600"/>
            <a:ext cx="1737360" cy="502920"/>
          </a:xfrm>
          <a:prstGeom prst="rect">
            <a:avLst/>
          </a:prstGeom>
          <a:noFill/>
          <a:ln/>
        </p:spPr>
        <p:txBody>
          <a:bodyPr wrap="square" lIns="0" tIns="0" rIns="0" bIns="0" rtlCol="0" anchor="t"/>
          <a:lstStyle/>
          <a:p>
            <a:pPr indent="0" marL="0">
              <a:buNone/>
            </a:pPr>
            <a:r>
              <a:rPr lang="en-US" sz="3200" b="1" dirty="0">
                <a:solidFill>
                  <a:srgbClr val="1D5C73"/>
                </a:solidFill>
                <a:latin typeface="Calibri" pitchFamily="34" charset="0"/>
                <a:ea typeface="Calibri" pitchFamily="34" charset="-122"/>
                <a:cs typeface="Calibri" pitchFamily="34" charset="-120"/>
              </a:rPr>
              <a:t>6</a:t>
            </a:r>
            <a:endParaRPr lang="en-US" sz="3200" dirty="0"/>
          </a:p>
        </p:txBody>
      </p:sp>
      <p:sp>
        <p:nvSpPr>
          <p:cNvPr id="11" name="Text 9"/>
          <p:cNvSpPr txBox="1"/>
          <p:nvPr/>
        </p:nvSpPr>
        <p:spPr>
          <a:xfrm>
            <a:off x="2679192" y="1874520"/>
            <a:ext cx="1737360" cy="365760"/>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model calls at most, per claim</a:t>
            </a:r>
            <a:endParaRPr lang="en-US" sz="1050" dirty="0"/>
          </a:p>
        </p:txBody>
      </p:sp>
      <p:sp>
        <p:nvSpPr>
          <p:cNvPr id="12" name="Shape 10"/>
          <p:cNvSpPr/>
          <p:nvPr/>
        </p:nvSpPr>
        <p:spPr>
          <a:xfrm>
            <a:off x="4626864" y="1325880"/>
            <a:ext cx="1965960" cy="960120"/>
          </a:xfrm>
          <a:prstGeom prst="roundRect">
            <a:avLst>
              <a:gd name="adj" fmla="val 6667"/>
            </a:avLst>
          </a:prstGeom>
          <a:solidFill>
            <a:srgbClr val="E1EEF3"/>
          </a:solidFill>
          <a:ln w="12700">
            <a:solidFill>
              <a:srgbClr val="B7D3DE"/>
            </a:solidFill>
            <a:prstDash val="solid"/>
          </a:ln>
        </p:spPr>
      </p:sp>
      <p:sp>
        <p:nvSpPr>
          <p:cNvPr id="13" name="Text 11"/>
          <p:cNvSpPr txBox="1"/>
          <p:nvPr/>
        </p:nvSpPr>
        <p:spPr>
          <a:xfrm>
            <a:off x="4764024" y="1371600"/>
            <a:ext cx="1737360" cy="502920"/>
          </a:xfrm>
          <a:prstGeom prst="rect">
            <a:avLst/>
          </a:prstGeom>
          <a:noFill/>
          <a:ln/>
        </p:spPr>
        <p:txBody>
          <a:bodyPr wrap="square" lIns="0" tIns="0" rIns="0" bIns="0" rtlCol="0" anchor="t"/>
          <a:lstStyle/>
          <a:p>
            <a:pPr indent="0" marL="0">
              <a:buNone/>
            </a:pPr>
            <a:r>
              <a:rPr lang="en-US" sz="3200" b="1" dirty="0">
                <a:solidFill>
                  <a:srgbClr val="1D5C73"/>
                </a:solidFill>
                <a:latin typeface="Calibri" pitchFamily="34" charset="0"/>
                <a:ea typeface="Calibri" pitchFamily="34" charset="-122"/>
                <a:cs typeface="Calibri" pitchFamily="34" charset="-120"/>
              </a:rPr>
              <a:t>0</a:t>
            </a:r>
            <a:endParaRPr lang="en-US" sz="3200" dirty="0"/>
          </a:p>
        </p:txBody>
      </p:sp>
      <p:sp>
        <p:nvSpPr>
          <p:cNvPr id="14" name="Text 12"/>
          <p:cNvSpPr txBox="1"/>
          <p:nvPr/>
        </p:nvSpPr>
        <p:spPr>
          <a:xfrm>
            <a:off x="4764024" y="1874520"/>
            <a:ext cx="1737360" cy="365760"/>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amounts calculated by a model</a:t>
            </a:r>
            <a:endParaRPr lang="en-US" sz="1050" dirty="0"/>
          </a:p>
        </p:txBody>
      </p:sp>
      <p:sp>
        <p:nvSpPr>
          <p:cNvPr id="15" name="Shape 13"/>
          <p:cNvSpPr/>
          <p:nvPr/>
        </p:nvSpPr>
        <p:spPr>
          <a:xfrm>
            <a:off x="6711696" y="1325880"/>
            <a:ext cx="1965960" cy="960120"/>
          </a:xfrm>
          <a:prstGeom prst="roundRect">
            <a:avLst>
              <a:gd name="adj" fmla="val 6667"/>
            </a:avLst>
          </a:prstGeom>
          <a:solidFill>
            <a:srgbClr val="E1EEF3"/>
          </a:solidFill>
          <a:ln w="12700">
            <a:solidFill>
              <a:srgbClr val="B7D3DE"/>
            </a:solidFill>
            <a:prstDash val="solid"/>
          </a:ln>
        </p:spPr>
      </p:sp>
      <p:sp>
        <p:nvSpPr>
          <p:cNvPr id="16" name="Text 14"/>
          <p:cNvSpPr txBox="1"/>
          <p:nvPr/>
        </p:nvSpPr>
        <p:spPr>
          <a:xfrm>
            <a:off x="6848856" y="1371600"/>
            <a:ext cx="1737360" cy="502920"/>
          </a:xfrm>
          <a:prstGeom prst="rect">
            <a:avLst/>
          </a:prstGeom>
          <a:noFill/>
          <a:ln/>
        </p:spPr>
        <p:txBody>
          <a:bodyPr wrap="square" lIns="0" tIns="0" rIns="0" bIns="0" rtlCol="0" anchor="t"/>
          <a:lstStyle/>
          <a:p>
            <a:pPr indent="0" marL="0">
              <a:buNone/>
            </a:pPr>
            <a:r>
              <a:rPr lang="en-US" sz="3200" b="1" dirty="0">
                <a:solidFill>
                  <a:srgbClr val="1D5C73"/>
                </a:solidFill>
                <a:latin typeface="Calibri" pitchFamily="34" charset="0"/>
                <a:ea typeface="Calibri" pitchFamily="34" charset="-122"/>
                <a:cs typeface="Calibri" pitchFamily="34" charset="-120"/>
              </a:rPr>
              <a:t>338</a:t>
            </a:r>
            <a:endParaRPr lang="en-US" sz="3200" dirty="0"/>
          </a:p>
        </p:txBody>
      </p:sp>
      <p:sp>
        <p:nvSpPr>
          <p:cNvPr id="17" name="Text 15"/>
          <p:cNvSpPr txBox="1"/>
          <p:nvPr/>
        </p:nvSpPr>
        <p:spPr>
          <a:xfrm>
            <a:off x="6848856" y="1874520"/>
            <a:ext cx="1737360" cy="365760"/>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automated tests, no network needed</a:t>
            </a:r>
            <a:endParaRPr lang="en-US" sz="1050" dirty="0"/>
          </a:p>
        </p:txBody>
      </p:sp>
      <p:sp>
        <p:nvSpPr>
          <p:cNvPr id="18" name="Shape 16"/>
          <p:cNvSpPr/>
          <p:nvPr/>
        </p:nvSpPr>
        <p:spPr>
          <a:xfrm>
            <a:off x="457200" y="2487168"/>
            <a:ext cx="4069080" cy="822960"/>
          </a:xfrm>
          <a:prstGeom prst="roundRect">
            <a:avLst>
              <a:gd name="adj" fmla="val 7778"/>
            </a:avLst>
          </a:prstGeom>
          <a:solidFill>
            <a:srgbClr val="FFFFFF"/>
          </a:solidFill>
          <a:ln w="12700">
            <a:solidFill>
              <a:srgbClr val="C9D1D6"/>
            </a:solidFill>
            <a:prstDash val="solid"/>
          </a:ln>
        </p:spPr>
      </p:sp>
      <p:sp>
        <p:nvSpPr>
          <p:cNvPr id="19" name="Text 17"/>
          <p:cNvSpPr txBox="1"/>
          <p:nvPr/>
        </p:nvSpPr>
        <p:spPr>
          <a:xfrm>
            <a:off x="621792" y="2578608"/>
            <a:ext cx="3749040" cy="256032"/>
          </a:xfrm>
          <a:prstGeom prst="rect">
            <a:avLst/>
          </a:prstGeom>
          <a:noFill/>
          <a:ln/>
        </p:spPr>
        <p:txBody>
          <a:bodyPr wrap="square" lIns="0" tIns="0" rIns="0" bIns="0" rtlCol="0" anchor="t"/>
          <a:lstStyle/>
          <a:p>
            <a:pPr indent="0" marL="0">
              <a:buNone/>
            </a:pPr>
            <a:r>
              <a:rPr lang="en-US" sz="1300" b="1" dirty="0">
                <a:solidFill>
                  <a:srgbClr val="17212B"/>
                </a:solidFill>
                <a:latin typeface="Calibri" pitchFamily="34" charset="0"/>
                <a:ea typeface="Calibri" pitchFamily="34" charset="-122"/>
                <a:cs typeface="Calibri" pitchFamily="34" charset="-120"/>
              </a:rPr>
              <a:t>Consistent</a:t>
            </a:r>
            <a:endParaRPr lang="en-US" sz="1300" dirty="0"/>
          </a:p>
        </p:txBody>
      </p:sp>
      <p:sp>
        <p:nvSpPr>
          <p:cNvPr id="20" name="Text 18"/>
          <p:cNvSpPr txBox="1"/>
          <p:nvPr/>
        </p:nvSpPr>
        <p:spPr>
          <a:xfrm>
            <a:off x="621792" y="2852928"/>
            <a:ext cx="3749040" cy="420624"/>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The same checks run on every claim: evidence, consistency, risk and calculation.</a:t>
            </a:r>
            <a:endParaRPr lang="en-US" sz="1050" dirty="0"/>
          </a:p>
        </p:txBody>
      </p:sp>
      <p:sp>
        <p:nvSpPr>
          <p:cNvPr id="21" name="Shape 19"/>
          <p:cNvSpPr/>
          <p:nvPr/>
        </p:nvSpPr>
        <p:spPr>
          <a:xfrm>
            <a:off x="4617720" y="2487168"/>
            <a:ext cx="4069080" cy="822960"/>
          </a:xfrm>
          <a:prstGeom prst="roundRect">
            <a:avLst>
              <a:gd name="adj" fmla="val 7778"/>
            </a:avLst>
          </a:prstGeom>
          <a:solidFill>
            <a:srgbClr val="FFFFFF"/>
          </a:solidFill>
          <a:ln w="12700">
            <a:solidFill>
              <a:srgbClr val="C9D1D6"/>
            </a:solidFill>
            <a:prstDash val="solid"/>
          </a:ln>
        </p:spPr>
      </p:sp>
      <p:sp>
        <p:nvSpPr>
          <p:cNvPr id="22" name="Text 20"/>
          <p:cNvSpPr txBox="1"/>
          <p:nvPr/>
        </p:nvSpPr>
        <p:spPr>
          <a:xfrm>
            <a:off x="4782312" y="2578608"/>
            <a:ext cx="3749040" cy="256032"/>
          </a:xfrm>
          <a:prstGeom prst="rect">
            <a:avLst/>
          </a:prstGeom>
          <a:noFill/>
          <a:ln/>
        </p:spPr>
        <p:txBody>
          <a:bodyPr wrap="square" lIns="0" tIns="0" rIns="0" bIns="0" rtlCol="0" anchor="t"/>
          <a:lstStyle/>
          <a:p>
            <a:pPr indent="0" marL="0">
              <a:buNone/>
            </a:pPr>
            <a:r>
              <a:rPr lang="en-US" sz="1300" b="1" dirty="0">
                <a:solidFill>
                  <a:srgbClr val="17212B"/>
                </a:solidFill>
                <a:latin typeface="Calibri" pitchFamily="34" charset="0"/>
                <a:ea typeface="Calibri" pitchFamily="34" charset="-122"/>
                <a:cs typeface="Calibri" pitchFamily="34" charset="-120"/>
              </a:rPr>
              <a:t>Traceable</a:t>
            </a:r>
            <a:endParaRPr lang="en-US" sz="1300" dirty="0"/>
          </a:p>
        </p:txBody>
      </p:sp>
      <p:sp>
        <p:nvSpPr>
          <p:cNvPr id="23" name="Text 21"/>
          <p:cNvSpPr txBox="1"/>
          <p:nvPr/>
        </p:nvSpPr>
        <p:spPr>
          <a:xfrm>
            <a:off x="4782312" y="2852928"/>
            <a:ext cx="3749040" cy="420624"/>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Every policy finding cites a page. Every agent run is saved, and the package carries the audit trail.</a:t>
            </a:r>
            <a:endParaRPr lang="en-US" sz="1050" dirty="0"/>
          </a:p>
        </p:txBody>
      </p:sp>
      <p:sp>
        <p:nvSpPr>
          <p:cNvPr id="24" name="Shape 22"/>
          <p:cNvSpPr/>
          <p:nvPr/>
        </p:nvSpPr>
        <p:spPr>
          <a:xfrm>
            <a:off x="457200" y="3401568"/>
            <a:ext cx="4069080" cy="822960"/>
          </a:xfrm>
          <a:prstGeom prst="roundRect">
            <a:avLst>
              <a:gd name="adj" fmla="val 7778"/>
            </a:avLst>
          </a:prstGeom>
          <a:solidFill>
            <a:srgbClr val="FFFFFF"/>
          </a:solidFill>
          <a:ln w="12700">
            <a:solidFill>
              <a:srgbClr val="C9D1D6"/>
            </a:solidFill>
            <a:prstDash val="solid"/>
          </a:ln>
        </p:spPr>
      </p:sp>
      <p:sp>
        <p:nvSpPr>
          <p:cNvPr id="25" name="Text 23"/>
          <p:cNvSpPr txBox="1"/>
          <p:nvPr/>
        </p:nvSpPr>
        <p:spPr>
          <a:xfrm>
            <a:off x="621792" y="3493008"/>
            <a:ext cx="3749040" cy="256032"/>
          </a:xfrm>
          <a:prstGeom prst="rect">
            <a:avLst/>
          </a:prstGeom>
          <a:noFill/>
          <a:ln/>
        </p:spPr>
        <p:txBody>
          <a:bodyPr wrap="square" lIns="0" tIns="0" rIns="0" bIns="0" rtlCol="0" anchor="t"/>
          <a:lstStyle/>
          <a:p>
            <a:pPr indent="0" marL="0">
              <a:buNone/>
            </a:pPr>
            <a:r>
              <a:rPr lang="en-US" sz="1300" b="1" dirty="0">
                <a:solidFill>
                  <a:srgbClr val="17212B"/>
                </a:solidFill>
                <a:latin typeface="Calibri" pitchFamily="34" charset="0"/>
                <a:ea typeface="Calibri" pitchFamily="34" charset="-122"/>
                <a:cs typeface="Calibri" pitchFamily="34" charset="-120"/>
              </a:rPr>
              <a:t>Under control</a:t>
            </a:r>
            <a:endParaRPr lang="en-US" sz="1300" dirty="0"/>
          </a:p>
        </p:txBody>
      </p:sp>
      <p:sp>
        <p:nvSpPr>
          <p:cNvPr id="26" name="Text 24"/>
          <p:cNvSpPr txBox="1"/>
          <p:nvPr/>
        </p:nvSpPr>
        <p:spPr>
          <a:xfrm>
            <a:off x="621792" y="3767328"/>
            <a:ext cx="3749040" cy="420624"/>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A person decides. Overrides need a reason. The AI recommendation is stored beside the decision.</a:t>
            </a:r>
            <a:endParaRPr lang="en-US" sz="1050" dirty="0"/>
          </a:p>
        </p:txBody>
      </p:sp>
      <p:sp>
        <p:nvSpPr>
          <p:cNvPr id="27" name="Shape 25"/>
          <p:cNvSpPr/>
          <p:nvPr/>
        </p:nvSpPr>
        <p:spPr>
          <a:xfrm>
            <a:off x="4617720" y="3401568"/>
            <a:ext cx="4069080" cy="822960"/>
          </a:xfrm>
          <a:prstGeom prst="roundRect">
            <a:avLst>
              <a:gd name="adj" fmla="val 7778"/>
            </a:avLst>
          </a:prstGeom>
          <a:solidFill>
            <a:srgbClr val="FFFFFF"/>
          </a:solidFill>
          <a:ln w="12700">
            <a:solidFill>
              <a:srgbClr val="C9D1D6"/>
            </a:solidFill>
            <a:prstDash val="solid"/>
          </a:ln>
        </p:spPr>
      </p:sp>
      <p:sp>
        <p:nvSpPr>
          <p:cNvPr id="28" name="Text 26"/>
          <p:cNvSpPr txBox="1"/>
          <p:nvPr/>
        </p:nvSpPr>
        <p:spPr>
          <a:xfrm>
            <a:off x="4782312" y="3493008"/>
            <a:ext cx="3749040" cy="256032"/>
          </a:xfrm>
          <a:prstGeom prst="rect">
            <a:avLst/>
          </a:prstGeom>
          <a:noFill/>
          <a:ln/>
        </p:spPr>
        <p:txBody>
          <a:bodyPr wrap="square" lIns="0" tIns="0" rIns="0" bIns="0" rtlCol="0" anchor="t"/>
          <a:lstStyle/>
          <a:p>
            <a:pPr indent="0" marL="0">
              <a:buNone/>
            </a:pPr>
            <a:r>
              <a:rPr lang="en-US" sz="1300" b="1" dirty="0">
                <a:solidFill>
                  <a:srgbClr val="17212B"/>
                </a:solidFill>
                <a:latin typeface="Calibri" pitchFamily="34" charset="0"/>
                <a:ea typeface="Calibri" pitchFamily="34" charset="-122"/>
                <a:cs typeface="Calibri" pitchFamily="34" charset="-120"/>
              </a:rPr>
              <a:t>Resilient</a:t>
            </a:r>
            <a:endParaRPr lang="en-US" sz="1300" dirty="0"/>
          </a:p>
        </p:txBody>
      </p:sp>
      <p:sp>
        <p:nvSpPr>
          <p:cNvPr id="29" name="Text 27"/>
          <p:cNvSpPr txBox="1"/>
          <p:nvPr/>
        </p:nvSpPr>
        <p:spPr>
          <a:xfrm>
            <a:off x="4782312" y="3767328"/>
            <a:ext cx="3749040" cy="420624"/>
          </a:xfrm>
          <a:prstGeom prst="rect">
            <a:avLst/>
          </a:prstGeom>
          <a:noFill/>
          <a:ln/>
        </p:spPr>
        <p:txBody>
          <a:bodyPr wrap="square" lIns="0" tIns="0" rIns="0" bIns="0" rtlCol="0" anchor="t"/>
          <a:lstStyle/>
          <a:p>
            <a:pPr indent="0" marL="0">
              <a:buNone/>
            </a:pPr>
            <a:r>
              <a:rPr lang="en-US" sz="1050" dirty="0">
                <a:solidFill>
                  <a:srgbClr val="5B6670"/>
                </a:solidFill>
                <a:latin typeface="Calibri" pitchFamily="34" charset="0"/>
                <a:ea typeface="Calibri" pitchFamily="34" charset="-122"/>
                <a:cs typeface="Calibri" pitchFamily="34" charset="-120"/>
              </a:rPr>
              <a:t>A failed step is shown, not hidden. The whole workflow also runs offline in Demo Mode.</a:t>
            </a:r>
            <a:endParaRPr lang="en-US" sz="1050" dirty="0"/>
          </a:p>
        </p:txBody>
      </p:sp>
      <p:sp>
        <p:nvSpPr>
          <p:cNvPr id="30" name="Text 28"/>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000" i="1" dirty="0">
                <a:solidFill>
                  <a:srgbClr val="5B6670"/>
                </a:solidFill>
                <a:latin typeface="Calibri" pitchFamily="34" charset="0"/>
                <a:ea typeface="Calibri" pitchFamily="34" charset="-122"/>
                <a:cs typeface="Calibri" pitchFamily="34" charset="-120"/>
              </a:rPr>
              <a:t>Impact is stated as what the system does. We have not measured time saved or accuracy on real claims.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00" b="1" spc="200" kern="0" dirty="0">
                <a:solidFill>
                  <a:srgbClr val="1D5C73"/>
                </a:solidFill>
                <a:latin typeface="Calibri" pitchFamily="34" charset="0"/>
                <a:ea typeface="Calibri" pitchFamily="34" charset="-122"/>
                <a:cs typeface="Calibri" pitchFamily="34" charset="-120"/>
              </a:rPr>
              <a:t>FUTURE SCOPE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600" b="1" dirty="0">
                <a:solidFill>
                  <a:srgbClr val="17212B"/>
                </a:solidFill>
                <a:latin typeface="Calibri" pitchFamily="34" charset="0"/>
                <a:ea typeface="Calibri" pitchFamily="34" charset="-122"/>
                <a:cs typeface="Calibri" pitchFamily="34" charset="-120"/>
              </a:rPr>
              <a:t>What comes next, and what is limited today</a:t>
            </a:r>
            <a:endParaRPr lang="en-US" sz="2600" dirty="0"/>
          </a:p>
        </p:txBody>
      </p:sp>
      <p:sp>
        <p:nvSpPr>
          <p:cNvPr id="4" name="Text 2"/>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900" dirty="0">
                <a:solidFill>
                  <a:srgbClr val="5B6670"/>
                </a:solidFill>
                <a:latin typeface="Calibri" pitchFamily="34" charset="0"/>
                <a:ea typeface="Calibri" pitchFamily="34" charset="-122"/>
                <a:cs typeface="Calibri" pitchFamily="34" charset="-120"/>
              </a:rPr>
              <a:t>ClaimFlow AI</a:t>
            </a:r>
            <a:endParaRPr lang="en-US" sz="900" dirty="0"/>
          </a:p>
        </p:txBody>
      </p:sp>
      <p:sp>
        <p:nvSpPr>
          <p:cNvPr id="5" name="Text 3"/>
          <p:cNvSpPr txBox="1"/>
          <p:nvPr/>
        </p:nvSpPr>
        <p:spPr>
          <a:xfrm>
            <a:off x="8229600" y="4828032"/>
            <a:ext cx="457200" cy="182880"/>
          </a:xfrm>
          <a:prstGeom prst="rect">
            <a:avLst/>
          </a:prstGeom>
          <a:noFill/>
          <a:ln/>
        </p:spPr>
        <p:txBody>
          <a:bodyPr wrap="square" lIns="0" tIns="0" rIns="0" bIns="0" rtlCol="0" anchor="t"/>
          <a:lstStyle/>
          <a:p>
            <a:pPr algn="r" indent="0" marL="0">
              <a:buNone/>
            </a:pPr>
            <a:r>
              <a:rPr lang="en-US" sz="900" dirty="0">
                <a:solidFill>
                  <a:srgbClr val="5B6670"/>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57200" y="1280160"/>
            <a:ext cx="4023360" cy="3154680"/>
          </a:xfrm>
          <a:prstGeom prst="roundRect">
            <a:avLst>
              <a:gd name="adj" fmla="val 2029"/>
            </a:avLst>
          </a:prstGeom>
          <a:solidFill>
            <a:srgbClr val="FFFFFF"/>
          </a:solidFill>
          <a:ln w="12700">
            <a:solidFill>
              <a:srgbClr val="C9D1D6"/>
            </a:solidFill>
            <a:prstDash val="solid"/>
          </a:ln>
        </p:spPr>
      </p:sp>
      <p:sp>
        <p:nvSpPr>
          <p:cNvPr id="7" name="Text 5"/>
          <p:cNvSpPr txBox="1"/>
          <p:nvPr/>
        </p:nvSpPr>
        <p:spPr>
          <a:xfrm>
            <a:off x="640080" y="1389888"/>
            <a:ext cx="3657600" cy="274320"/>
          </a:xfrm>
          <a:prstGeom prst="rect">
            <a:avLst/>
          </a:prstGeom>
          <a:noFill/>
          <a:ln/>
        </p:spPr>
        <p:txBody>
          <a:bodyPr wrap="square" lIns="0" tIns="0" rIns="0" bIns="0" rtlCol="0" anchor="t"/>
          <a:lstStyle/>
          <a:p>
            <a:pPr indent="0" marL="0">
              <a:buNone/>
            </a:pPr>
            <a:r>
              <a:rPr lang="en-US" sz="1400" b="1" dirty="0">
                <a:solidFill>
                  <a:srgbClr val="1D5C73"/>
                </a:solidFill>
                <a:latin typeface="Calibri" pitchFamily="34" charset="0"/>
                <a:ea typeface="Calibri" pitchFamily="34" charset="-122"/>
                <a:cs typeface="Calibri" pitchFamily="34" charset="-120"/>
              </a:rPr>
              <a:t>Next</a:t>
            </a:r>
            <a:endParaRPr lang="en-US" sz="1400" dirty="0"/>
          </a:p>
        </p:txBody>
      </p:sp>
      <p:sp>
        <p:nvSpPr>
          <p:cNvPr id="8" name="Text 6"/>
          <p:cNvSpPr txBox="1"/>
          <p:nvPr/>
        </p:nvSpPr>
        <p:spPr>
          <a:xfrm>
            <a:off x="640080" y="1737360"/>
            <a:ext cx="3657600" cy="26517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OCR for scanned documents</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Percentage and additional excesses</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A check of the incident date against the policy period</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More claim types and languages</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User accounts, roles and a fuller audit log</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A persistent database for hosted use</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Evaluation on real, labelled claims</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Integration with claim systems and email</a:t>
            </a:r>
            <a:endParaRPr lang="en-US" sz="1200" dirty="0"/>
          </a:p>
        </p:txBody>
      </p:sp>
      <p:sp>
        <p:nvSpPr>
          <p:cNvPr id="9" name="Shape 7"/>
          <p:cNvSpPr/>
          <p:nvPr/>
        </p:nvSpPr>
        <p:spPr>
          <a:xfrm>
            <a:off x="4663440" y="1280160"/>
            <a:ext cx="4023360" cy="3154680"/>
          </a:xfrm>
          <a:prstGeom prst="roundRect">
            <a:avLst>
              <a:gd name="adj" fmla="val 2029"/>
            </a:avLst>
          </a:prstGeom>
          <a:solidFill>
            <a:srgbClr val="FBF0D9"/>
          </a:solidFill>
          <a:ln w="12700">
            <a:solidFill>
              <a:srgbClr val="B7791F"/>
            </a:solidFill>
            <a:prstDash val="solid"/>
          </a:ln>
        </p:spPr>
      </p:sp>
      <p:sp>
        <p:nvSpPr>
          <p:cNvPr id="10" name="Text 8"/>
          <p:cNvSpPr txBox="1"/>
          <p:nvPr/>
        </p:nvSpPr>
        <p:spPr>
          <a:xfrm>
            <a:off x="4846320" y="1389888"/>
            <a:ext cx="3657600" cy="274320"/>
          </a:xfrm>
          <a:prstGeom prst="rect">
            <a:avLst/>
          </a:prstGeom>
          <a:noFill/>
          <a:ln/>
        </p:spPr>
        <p:txBody>
          <a:bodyPr wrap="square" lIns="0" tIns="0" rIns="0" bIns="0" rtlCol="0" anchor="t"/>
          <a:lstStyle/>
          <a:p>
            <a:pPr indent="0" marL="0">
              <a:buNone/>
            </a:pPr>
            <a:r>
              <a:rPr lang="en-US" sz="1400" b="1" dirty="0">
                <a:solidFill>
                  <a:srgbClr val="8A5A00"/>
                </a:solidFill>
                <a:latin typeface="Calibri" pitchFamily="34" charset="0"/>
                <a:ea typeface="Calibri" pitchFamily="34" charset="-122"/>
                <a:cs typeface="Calibri" pitchFamily="34" charset="-120"/>
              </a:rPr>
              <a:t>Limited today</a:t>
            </a:r>
            <a:endParaRPr lang="en-US" sz="1400" dirty="0"/>
          </a:p>
        </p:txBody>
      </p:sp>
      <p:sp>
        <p:nvSpPr>
          <p:cNvPr id="11" name="Text 9"/>
          <p:cNvSpPr txBox="1"/>
          <p:nvPr/>
        </p:nvSpPr>
        <p:spPr>
          <a:xfrm>
            <a:off x="4846320" y="1737360"/>
            <a:ext cx="3657600" cy="26517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Scanned PDFs are refused. There is no OCR</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In Demo Mode the photo is not interpreted</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Live AI has not been run against live APIs by the team</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Percentage deductibles are flagged, not calculated</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No login: the reviewer types a name</a:t>
            </a:r>
            <a:endParaRPr lang="en-US" sz="1200" dirty="0"/>
          </a:p>
          <a:p>
            <a:pPr marL="177800" indent="-177800">
              <a:spcAft>
                <a:spcPts val="500"/>
              </a:spcAft>
              <a:buSzPct val="100000"/>
              <a:buChar char="•"/>
            </a:pPr>
            <a:r>
              <a:rPr lang="en-US" sz="1200" dirty="0">
                <a:solidFill>
                  <a:srgbClr val="17212B"/>
                </a:solidFill>
                <a:latin typeface="Calibri" pitchFamily="34" charset="0"/>
                <a:ea typeface="Calibri" pitchFamily="34" charset="-122"/>
                <a:cs typeface="Calibri" pitchFamily="34" charset="-120"/>
              </a:rPr>
              <a:t>Only the first 60 pages of a PDF are read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ClaimFlow AI</dc:title>
  <dc:subject>PptxGenJS Presentation</dc:subject>
  <dc:creator>ClaimFlow AI team</dc:creator>
  <cp:lastModifiedBy>ClaimFlow AI team</cp:lastModifiedBy>
  <cp:revision>1</cp:revision>
  <dcterms:created xsi:type="dcterms:W3CDTF">2026-10-03T06:35:39Z</dcterms:created>
  <dcterms:modified xsi:type="dcterms:W3CDTF">2026-10-03T06:35:39Z</dcterms:modified>
</cp:coreProperties>
</file>